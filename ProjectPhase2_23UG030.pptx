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9753600" cy="7315200"/>
  <p:notesSz cx="6858000" cy="9144000"/>
  <p:embeddedFontLst>
    <p:embeddedFont>
      <p:font typeface="Arial" charset="1" panose="020B0604020202020204"/>
      <p:regular r:id="rId27"/>
    </p:embeddedFont>
    <p:embeddedFont>
      <p:font typeface="Times New Roman Bold" charset="1" panose="02020803070505020304"/>
      <p:regular r:id="rId28"/>
    </p:embeddedFont>
    <p:embeddedFont>
      <p:font typeface="Times New Roman" charset="1" panose="02020603050405020304"/>
      <p:regular r:id="rId29"/>
    </p:embeddedFont>
    <p:embeddedFont>
      <p:font typeface="Times New Roman Italics" charset="1" panose="020205030504050903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4.png" Type="http://schemas.openxmlformats.org/officeDocument/2006/relationships/image"/><Relationship Id="rId5" Target="../embeddings/oleObject2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Relationship Id="rId5" Target="../embeddings/oleObject3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163" y="1203960"/>
            <a:ext cx="9052560" cy="5557523"/>
            <a:chOff x="0" y="0"/>
            <a:chExt cx="12070080" cy="7410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7410069"/>
            </a:xfrm>
            <a:custGeom>
              <a:avLst/>
              <a:gdLst/>
              <a:ahLst/>
              <a:cxnLst/>
              <a:rect r="r" b="b" t="t" l="l"/>
              <a:pathLst>
                <a:path h="7410069" w="12070080">
                  <a:moveTo>
                    <a:pt x="0" y="1235075"/>
                  </a:moveTo>
                  <a:cubicBezTo>
                    <a:pt x="0" y="552958"/>
                    <a:pt x="552958" y="0"/>
                    <a:pt x="1235075" y="0"/>
                  </a:cubicBezTo>
                  <a:lnTo>
                    <a:pt x="10835005" y="0"/>
                  </a:lnTo>
                  <a:cubicBezTo>
                    <a:pt x="11517123" y="0"/>
                    <a:pt x="12070080" y="552958"/>
                    <a:pt x="12070080" y="1235075"/>
                  </a:cubicBezTo>
                  <a:lnTo>
                    <a:pt x="12070080" y="6174994"/>
                  </a:lnTo>
                  <a:cubicBezTo>
                    <a:pt x="12070080" y="6857111"/>
                    <a:pt x="11517123" y="7410069"/>
                    <a:pt x="10835005" y="7410069"/>
                  </a:cubicBezTo>
                  <a:lnTo>
                    <a:pt x="1235075" y="7410069"/>
                  </a:lnTo>
                  <a:cubicBezTo>
                    <a:pt x="552958" y="7410069"/>
                    <a:pt x="0" y="6857111"/>
                    <a:pt x="0" y="6174994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6699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007030" y="435826"/>
            <a:ext cx="138665" cy="2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65391" y="1387221"/>
            <a:ext cx="8222828" cy="2053649"/>
            <a:chOff x="0" y="0"/>
            <a:chExt cx="10963770" cy="273819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63769" cy="2738201"/>
            </a:xfrm>
            <a:custGeom>
              <a:avLst/>
              <a:gdLst/>
              <a:ahLst/>
              <a:cxnLst/>
              <a:rect r="r" b="b" t="t" l="l"/>
              <a:pathLst>
                <a:path h="2738201" w="10963769">
                  <a:moveTo>
                    <a:pt x="0" y="0"/>
                  </a:moveTo>
                  <a:lnTo>
                    <a:pt x="10963769" y="0"/>
                  </a:lnTo>
                  <a:lnTo>
                    <a:pt x="10963769" y="2738201"/>
                  </a:lnTo>
                  <a:lnTo>
                    <a:pt x="0" y="27382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018" r="0" b="-28018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963770" cy="27667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28"/>
                </a:lnSpc>
              </a:pPr>
              <a:r>
                <a:rPr lang="en-US" sz="2773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 Mult</a:t>
              </a:r>
              <a:r>
                <a:rPr lang="en-US" sz="2773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i-Agent Framework for Log Anomaly Detection</a:t>
              </a:r>
            </a:p>
            <a:p>
              <a:pPr algn="ctr">
                <a:lnSpc>
                  <a:spcPts val="1408"/>
                </a:lnSpc>
              </a:pPr>
            </a:p>
            <a:p>
              <a:pPr algn="ctr">
                <a:lnSpc>
                  <a:spcPts val="2304"/>
                </a:lnSpc>
              </a:pPr>
              <a:r>
                <a:rPr lang="en-US" sz="192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23CSE498 Project Phase 2 – Approval Presentation</a:t>
              </a:r>
            </a:p>
            <a:p>
              <a:pPr algn="ctr">
                <a:lnSpc>
                  <a:spcPts val="1344"/>
                </a:lnSpc>
              </a:pPr>
            </a:p>
            <a:p>
              <a:pPr algn="ctr">
                <a:lnSpc>
                  <a:spcPts val="2304"/>
                </a:lnSpc>
              </a:pPr>
              <a:r>
                <a:rPr lang="en-US" sz="192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Team ID: 23UG030			Panel No.: 17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81763" y="325117"/>
            <a:ext cx="7315200" cy="487680"/>
            <a:chOff x="0" y="0"/>
            <a:chExt cx="9753600" cy="650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753600" cy="650240"/>
            </a:xfrm>
            <a:custGeom>
              <a:avLst/>
              <a:gdLst/>
              <a:ahLst/>
              <a:cxnLst/>
              <a:rect r="r" b="b" t="t" l="l"/>
              <a:pathLst>
                <a:path h="6502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629925" y="3872936"/>
          <a:ext cx="8493760" cy="1964267"/>
        </p:xfrm>
        <a:graphic>
          <a:graphicData uri="http://schemas.openxmlformats.org/drawingml/2006/table">
            <a:tbl>
              <a:tblPr/>
              <a:tblGrid>
                <a:gridCol w="835433"/>
                <a:gridCol w="2404671"/>
                <a:gridCol w="3863083"/>
                <a:gridCol w="1390573"/>
              </a:tblGrid>
              <a:tr h="4478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52"/>
                        </a:lnSpc>
                        <a:defRPr/>
                      </a:pPr>
                      <a:r>
                        <a:rPr lang="en-US" sz="171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S.No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52"/>
                        </a:lnSpc>
                        <a:defRPr/>
                      </a:pPr>
                      <a:r>
                        <a:rPr lang="en-US" sz="171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Reg.No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52"/>
                        </a:lnSpc>
                        <a:defRPr/>
                      </a:pPr>
                      <a:r>
                        <a:rPr lang="en-US" sz="171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Name of the Student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52"/>
                        </a:lnSpc>
                        <a:defRPr/>
                      </a:pPr>
                      <a:r>
                        <a:rPr lang="en-US" sz="171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Branch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</a:tr>
              <a:tr h="3790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52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52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BL.EN.U4CSE23209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Atharva Anup Wasnik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</a:tr>
              <a:tr h="3790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52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BL.EN.U4CSE23239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Nikhil Sanjay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</a:tr>
              <a:tr h="3790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52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BL.EN.U4CSE23257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Vedhesh Dhinakaran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</a:tr>
              <a:tr h="3790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52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BL.EN.U4CSE23269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Andrew Tom Mathew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94"/>
                        </a:lnSpc>
                        <a:defRPr/>
                      </a:pPr>
                      <a:r>
                        <a:rPr lang="en-US" sz="171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CSE</a:t>
                      </a:r>
                      <a:endParaRPr lang="en-US" sz="1100"/>
                    </a:p>
                  </a:txBody>
                  <a:tcPr marL="0" marR="0" marT="0" marB="0" anchor="t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3F4"/>
                    </a:solidFill>
                  </a:tcPr>
                </a:tc>
              </a:tr>
            </a:tbl>
          </a:graphicData>
        </a:graphic>
      </p:graphicFrame>
      <p:sp>
        <p:nvSpPr>
          <p:cNvPr name="TextBox 13" id="13"/>
          <p:cNvSpPr txBox="true"/>
          <p:nvPr/>
        </p:nvSpPr>
        <p:spPr>
          <a:xfrm rot="0">
            <a:off x="931735" y="5990511"/>
            <a:ext cx="505340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4"/>
              </a:lnSpc>
            </a:pPr>
            <a:r>
              <a:rPr lang="en-US" b="true" sz="192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Guide: Dr. Ritesh Raj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28188" y="6285786"/>
            <a:ext cx="543605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1"/>
              </a:lnSpc>
              <a:spcBef>
                <a:spcPct val="0"/>
              </a:spcBef>
            </a:pP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Assistant Professor (Level 10), School of Artificial Intelligence, Amrita Vishwa Vidyapeetham, Bengaluru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163" y="1203960"/>
            <a:ext cx="9052560" cy="5557523"/>
            <a:chOff x="0" y="0"/>
            <a:chExt cx="12070080" cy="7410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7410069"/>
            </a:xfrm>
            <a:custGeom>
              <a:avLst/>
              <a:gdLst/>
              <a:ahLst/>
              <a:cxnLst/>
              <a:rect r="r" b="b" t="t" l="l"/>
              <a:pathLst>
                <a:path h="7410069" w="12070080">
                  <a:moveTo>
                    <a:pt x="0" y="1235075"/>
                  </a:moveTo>
                  <a:cubicBezTo>
                    <a:pt x="0" y="552958"/>
                    <a:pt x="552958" y="0"/>
                    <a:pt x="1235075" y="0"/>
                  </a:cubicBezTo>
                  <a:lnTo>
                    <a:pt x="10835005" y="0"/>
                  </a:lnTo>
                  <a:cubicBezTo>
                    <a:pt x="11517123" y="0"/>
                    <a:pt x="12070080" y="552958"/>
                    <a:pt x="12070080" y="1235075"/>
                  </a:cubicBezTo>
                  <a:lnTo>
                    <a:pt x="12070080" y="6174994"/>
                  </a:lnTo>
                  <a:cubicBezTo>
                    <a:pt x="12070080" y="6857111"/>
                    <a:pt x="11517123" y="7410069"/>
                    <a:pt x="10835005" y="7410069"/>
                  </a:cubicBezTo>
                  <a:lnTo>
                    <a:pt x="1235075" y="7410069"/>
                  </a:lnTo>
                  <a:cubicBezTo>
                    <a:pt x="552958" y="7410069"/>
                    <a:pt x="0" y="6857111"/>
                    <a:pt x="0" y="6174994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6699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01551" y="435826"/>
            <a:ext cx="244145" cy="2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05666" y="2234965"/>
            <a:ext cx="8791785" cy="1622212"/>
            <a:chOff x="0" y="0"/>
            <a:chExt cx="11722379" cy="21629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722382" cy="2162952"/>
            </a:xfrm>
            <a:custGeom>
              <a:avLst/>
              <a:gdLst/>
              <a:ahLst/>
              <a:cxnLst/>
              <a:rect r="r" b="b" t="t" l="l"/>
              <a:pathLst>
                <a:path h="2162952" w="11722382">
                  <a:moveTo>
                    <a:pt x="0" y="0"/>
                  </a:moveTo>
                  <a:lnTo>
                    <a:pt x="11722382" y="0"/>
                  </a:lnTo>
                  <a:lnTo>
                    <a:pt x="11722382" y="2162952"/>
                  </a:lnTo>
                  <a:lnTo>
                    <a:pt x="0" y="2162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01" r="0" b="-55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11722379" cy="21724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583"/>
                </a:lnSpc>
              </a:pPr>
              <a:r>
                <a:rPr lang="en-US" sz="2986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Screenshot of your guides’ approval mail (to go ahead with the presentation)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163" y="1203960"/>
            <a:ext cx="9052560" cy="5557523"/>
            <a:chOff x="0" y="0"/>
            <a:chExt cx="12070080" cy="7410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7410069"/>
            </a:xfrm>
            <a:custGeom>
              <a:avLst/>
              <a:gdLst/>
              <a:ahLst/>
              <a:cxnLst/>
              <a:rect r="r" b="b" t="t" l="l"/>
              <a:pathLst>
                <a:path h="7410069" w="12070080">
                  <a:moveTo>
                    <a:pt x="0" y="1235075"/>
                  </a:moveTo>
                  <a:cubicBezTo>
                    <a:pt x="0" y="552958"/>
                    <a:pt x="552958" y="0"/>
                    <a:pt x="1235075" y="0"/>
                  </a:cubicBezTo>
                  <a:lnTo>
                    <a:pt x="10835005" y="0"/>
                  </a:lnTo>
                  <a:cubicBezTo>
                    <a:pt x="11517123" y="0"/>
                    <a:pt x="12070080" y="552958"/>
                    <a:pt x="12070080" y="1235075"/>
                  </a:cubicBezTo>
                  <a:lnTo>
                    <a:pt x="12070080" y="6174994"/>
                  </a:lnTo>
                  <a:cubicBezTo>
                    <a:pt x="12070080" y="6857111"/>
                    <a:pt x="11517123" y="7410069"/>
                    <a:pt x="10835005" y="7410069"/>
                  </a:cubicBezTo>
                  <a:lnTo>
                    <a:pt x="1235075" y="7410069"/>
                  </a:lnTo>
                  <a:cubicBezTo>
                    <a:pt x="552958" y="7410069"/>
                    <a:pt x="0" y="6857111"/>
                    <a:pt x="0" y="6174994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6699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9007030" y="435826"/>
            <a:ext cx="138665" cy="2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81763" y="325117"/>
            <a:ext cx="7315200" cy="487680"/>
            <a:chOff x="0" y="0"/>
            <a:chExt cx="9753600" cy="650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53600" cy="650240"/>
            </a:xfrm>
            <a:custGeom>
              <a:avLst/>
              <a:gdLst/>
              <a:ahLst/>
              <a:cxnLst/>
              <a:rect r="r" b="b" t="t" l="l"/>
              <a:pathLst>
                <a:path h="6502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50240"/>
                  </a:lnTo>
                  <a:lnTo>
                    <a:pt x="0" y="65024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731520" y="2005753"/>
            <a:ext cx="8265629" cy="417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systems generate large volumes of heterogeneous log data, making manual analysis difficult and time-consuming.</a:t>
            </a:r>
          </a:p>
          <a:p>
            <a:pPr algn="l">
              <a:lnSpc>
                <a:spcPts val="1791"/>
              </a:lnSpc>
            </a:pPr>
          </a:p>
          <a:p>
            <a:pPr algn="l" marL="322410" indent="-161205" lvl="1">
              <a:lnSpc>
                <a:spcPts val="1791"/>
              </a:lnSpc>
              <a:spcBef>
                <a:spcPct val="0"/>
              </a:spcBef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approaches often address log anomaly detection, Root Cause Analysis (RCA), or AI-based insights as separate tasks.</a:t>
            </a:r>
          </a:p>
          <a:p>
            <a:pPr algn="l">
              <a:lnSpc>
                <a:spcPts val="1791"/>
              </a:lnSpc>
              <a:spcBef>
                <a:spcPct val="0"/>
              </a:spcBef>
            </a:pPr>
          </a:p>
          <a:p>
            <a:pPr algn="l" marL="322410" indent="-161205" lvl="1">
              <a:lnSpc>
                <a:spcPts val="1791"/>
              </a:lnSpc>
              <a:spcBef>
                <a:spcPct val="0"/>
              </a:spcBef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Recent research has introduced LLMs and AI agents for individual stages, but a unified system that autonomously coordinates the complete log-analysis workflow is still limited.</a:t>
            </a:r>
          </a:p>
          <a:p>
            <a:pPr algn="l">
              <a:lnSpc>
                <a:spcPts val="1791"/>
              </a:lnSpc>
              <a:spcBef>
                <a:spcPct val="0"/>
              </a:spcBef>
            </a:pPr>
          </a:p>
          <a:p>
            <a:pPr algn="l" marL="322410" indent="-161205" lvl="1">
              <a:lnSpc>
                <a:spcPts val="1791"/>
              </a:lnSpc>
              <a:spcBef>
                <a:spcPct val="0"/>
              </a:spcBef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need for a system that can:</a:t>
            </a:r>
          </a:p>
          <a:p>
            <a:pPr algn="l" marL="644821" indent="-214940" lvl="2">
              <a:lnSpc>
                <a:spcPts val="1791"/>
              </a:lnSpc>
              <a:buFont typeface="Arial"/>
              <a:buChar char="⚬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and classify incoming log data based on its log family.</a:t>
            </a:r>
          </a:p>
          <a:p>
            <a:pPr algn="l" marL="644821" indent="-214940" lvl="2">
              <a:lnSpc>
                <a:spcPts val="1791"/>
              </a:lnSpc>
              <a:buFont typeface="Arial"/>
              <a:buChar char="⚬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an intelligent log analysis system that identifies log families and automatically performs preprocessing and data cleaning.</a:t>
            </a:r>
          </a:p>
          <a:p>
            <a:pPr algn="l" marL="644821" indent="-214940" lvl="2">
              <a:lnSpc>
                <a:spcPts val="1791"/>
              </a:lnSpc>
              <a:buFont typeface="Arial"/>
              <a:buChar char="⚬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and orchestrate specialized AI agents to perform anomaly detection and RCA using existing ML models and contextual evidence.</a:t>
            </a:r>
          </a:p>
          <a:p>
            <a:pPr algn="l" marL="644821" indent="-214940" lvl="2">
              <a:lnSpc>
                <a:spcPts val="1791"/>
              </a:lnSpc>
              <a:buFont typeface="Arial"/>
              <a:buChar char="⚬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explainable and actionable insights using an SLM based on the detected anomalies and RCA results.</a:t>
            </a:r>
          </a:p>
          <a:p>
            <a:pPr algn="l" marL="644821" indent="-214940" lvl="2">
              <a:lnSpc>
                <a:spcPts val="1791"/>
              </a:lnSpc>
              <a:spcBef>
                <a:spcPct val="0"/>
              </a:spcBef>
              <a:buFont typeface="Arial"/>
              <a:buChar char="⚬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 future system disruptions to prevent system downtimes and provide preventative counter-measures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87311" y="196425"/>
            <a:ext cx="8304105" cy="745065"/>
            <a:chOff x="0" y="0"/>
            <a:chExt cx="11072139" cy="99341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72142" cy="993422"/>
            </a:xfrm>
            <a:custGeom>
              <a:avLst/>
              <a:gdLst/>
              <a:ahLst/>
              <a:cxnLst/>
              <a:rect r="r" b="b" t="t" l="l"/>
              <a:pathLst>
                <a:path h="993422" w="11072142">
                  <a:moveTo>
                    <a:pt x="0" y="0"/>
                  </a:moveTo>
                  <a:lnTo>
                    <a:pt x="11072142" y="0"/>
                  </a:lnTo>
                  <a:lnTo>
                    <a:pt x="11072142" y="993422"/>
                  </a:lnTo>
                  <a:lnTo>
                    <a:pt x="0" y="9934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169" r="0" b="-16716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1072139" cy="10124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Definition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163" y="1203960"/>
            <a:ext cx="9052560" cy="5557523"/>
            <a:chOff x="0" y="0"/>
            <a:chExt cx="12070080" cy="7410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7410069"/>
            </a:xfrm>
            <a:custGeom>
              <a:avLst/>
              <a:gdLst/>
              <a:ahLst/>
              <a:cxnLst/>
              <a:rect r="r" b="b" t="t" l="l"/>
              <a:pathLst>
                <a:path h="7410069" w="12070080">
                  <a:moveTo>
                    <a:pt x="0" y="1235075"/>
                  </a:moveTo>
                  <a:cubicBezTo>
                    <a:pt x="0" y="552958"/>
                    <a:pt x="552958" y="0"/>
                    <a:pt x="1235075" y="0"/>
                  </a:cubicBezTo>
                  <a:lnTo>
                    <a:pt x="10835005" y="0"/>
                  </a:lnTo>
                  <a:cubicBezTo>
                    <a:pt x="11517123" y="0"/>
                    <a:pt x="12070080" y="552958"/>
                    <a:pt x="12070080" y="1235075"/>
                  </a:cubicBezTo>
                  <a:lnTo>
                    <a:pt x="12070080" y="6174994"/>
                  </a:lnTo>
                  <a:cubicBezTo>
                    <a:pt x="12070080" y="6857111"/>
                    <a:pt x="11517123" y="7410069"/>
                    <a:pt x="10835005" y="7410069"/>
                  </a:cubicBezTo>
                  <a:lnTo>
                    <a:pt x="1235075" y="7410069"/>
                  </a:lnTo>
                  <a:cubicBezTo>
                    <a:pt x="552958" y="7410069"/>
                    <a:pt x="0" y="6857111"/>
                    <a:pt x="0" y="6174994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6699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2428" y="384848"/>
            <a:ext cx="7328745" cy="875452"/>
            <a:chOff x="0" y="0"/>
            <a:chExt cx="9771659" cy="11672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71662" cy="1167272"/>
            </a:xfrm>
            <a:custGeom>
              <a:avLst/>
              <a:gdLst/>
              <a:ahLst/>
              <a:cxnLst/>
              <a:rect r="r" b="b" t="t" l="l"/>
              <a:pathLst>
                <a:path h="1167272" w="9771662">
                  <a:moveTo>
                    <a:pt x="0" y="0"/>
                  </a:moveTo>
                  <a:lnTo>
                    <a:pt x="9771662" y="0"/>
                  </a:lnTo>
                  <a:lnTo>
                    <a:pt x="9771662" y="1167272"/>
                  </a:lnTo>
                  <a:lnTo>
                    <a:pt x="0" y="1167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16" r="0" b="-11311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9771659" cy="1186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Literature Survey</a:t>
              </a:r>
            </a:p>
          </p:txBody>
        </p:sp>
      </p:grpSp>
      <p:graphicFrame>
        <p:nvGraphicFramePr>
          <p:cNvPr name="Object 9" id="9"/>
          <p:cNvGraphicFramePr/>
          <p:nvPr/>
        </p:nvGraphicFramePr>
        <p:xfrm>
          <a:off x="589283" y="1529717"/>
          <a:ext cx="8045207" cy="8801100"/>
        </p:xfrm>
        <a:graphic>
          <a:graphicData uri="http://schemas.openxmlformats.org/presentationml/2006/ole">
            <p:oleObj imgW="9791700" imgH="105537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9007030" y="435826"/>
            <a:ext cx="138665" cy="23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163" y="1203960"/>
            <a:ext cx="9052560" cy="5557523"/>
            <a:chOff x="0" y="0"/>
            <a:chExt cx="12070080" cy="7410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7410069"/>
            </a:xfrm>
            <a:custGeom>
              <a:avLst/>
              <a:gdLst/>
              <a:ahLst/>
              <a:cxnLst/>
              <a:rect r="r" b="b" t="t" l="l"/>
              <a:pathLst>
                <a:path h="7410069" w="12070080">
                  <a:moveTo>
                    <a:pt x="0" y="1235075"/>
                  </a:moveTo>
                  <a:cubicBezTo>
                    <a:pt x="0" y="552958"/>
                    <a:pt x="552958" y="0"/>
                    <a:pt x="1235075" y="0"/>
                  </a:cubicBezTo>
                  <a:lnTo>
                    <a:pt x="10835005" y="0"/>
                  </a:lnTo>
                  <a:cubicBezTo>
                    <a:pt x="11517123" y="0"/>
                    <a:pt x="12070080" y="552958"/>
                    <a:pt x="12070080" y="1235075"/>
                  </a:cubicBezTo>
                  <a:lnTo>
                    <a:pt x="12070080" y="6174994"/>
                  </a:lnTo>
                  <a:cubicBezTo>
                    <a:pt x="12070080" y="6857111"/>
                    <a:pt x="11517123" y="7410069"/>
                    <a:pt x="10835005" y="7410069"/>
                  </a:cubicBezTo>
                  <a:lnTo>
                    <a:pt x="1235075" y="7410069"/>
                  </a:lnTo>
                  <a:cubicBezTo>
                    <a:pt x="552958" y="7410069"/>
                    <a:pt x="0" y="6857111"/>
                    <a:pt x="0" y="6174994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6699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2428" y="384848"/>
            <a:ext cx="7328745" cy="875452"/>
            <a:chOff x="0" y="0"/>
            <a:chExt cx="9771659" cy="11672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71662" cy="1167272"/>
            </a:xfrm>
            <a:custGeom>
              <a:avLst/>
              <a:gdLst/>
              <a:ahLst/>
              <a:cxnLst/>
              <a:rect r="r" b="b" t="t" l="l"/>
              <a:pathLst>
                <a:path h="1167272" w="9771662">
                  <a:moveTo>
                    <a:pt x="0" y="0"/>
                  </a:moveTo>
                  <a:lnTo>
                    <a:pt x="9771662" y="0"/>
                  </a:lnTo>
                  <a:lnTo>
                    <a:pt x="9771662" y="1167272"/>
                  </a:lnTo>
                  <a:lnTo>
                    <a:pt x="0" y="1167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16" r="0" b="-11311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9771659" cy="1186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Literature Survey</a:t>
              </a:r>
            </a:p>
          </p:txBody>
        </p:sp>
      </p:grpSp>
      <p:graphicFrame>
        <p:nvGraphicFramePr>
          <p:cNvPr name="Object 9" id="9"/>
          <p:cNvGraphicFramePr/>
          <p:nvPr/>
        </p:nvGraphicFramePr>
        <p:xfrm>
          <a:off x="589283" y="1529717"/>
          <a:ext cx="8045207" cy="8801100"/>
        </p:xfrm>
        <a:graphic>
          <a:graphicData uri="http://schemas.openxmlformats.org/presentationml/2006/ole">
            <p:oleObj imgW="9791700" imgH="105537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9040226" y="435826"/>
            <a:ext cx="10547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163" y="1203960"/>
            <a:ext cx="9052560" cy="5557523"/>
            <a:chOff x="0" y="0"/>
            <a:chExt cx="12070080" cy="7410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7410069"/>
            </a:xfrm>
            <a:custGeom>
              <a:avLst/>
              <a:gdLst/>
              <a:ahLst/>
              <a:cxnLst/>
              <a:rect r="r" b="b" t="t" l="l"/>
              <a:pathLst>
                <a:path h="7410069" w="12070080">
                  <a:moveTo>
                    <a:pt x="0" y="1235075"/>
                  </a:moveTo>
                  <a:cubicBezTo>
                    <a:pt x="0" y="552958"/>
                    <a:pt x="552958" y="0"/>
                    <a:pt x="1235075" y="0"/>
                  </a:cubicBezTo>
                  <a:lnTo>
                    <a:pt x="10835005" y="0"/>
                  </a:lnTo>
                  <a:cubicBezTo>
                    <a:pt x="11517123" y="0"/>
                    <a:pt x="12070080" y="552958"/>
                    <a:pt x="12070080" y="1235075"/>
                  </a:cubicBezTo>
                  <a:lnTo>
                    <a:pt x="12070080" y="6174994"/>
                  </a:lnTo>
                  <a:cubicBezTo>
                    <a:pt x="12070080" y="6857111"/>
                    <a:pt x="11517123" y="7410069"/>
                    <a:pt x="10835005" y="7410069"/>
                  </a:cubicBezTo>
                  <a:lnTo>
                    <a:pt x="1235075" y="7410069"/>
                  </a:lnTo>
                  <a:cubicBezTo>
                    <a:pt x="552958" y="7410069"/>
                    <a:pt x="0" y="6857111"/>
                    <a:pt x="0" y="6174994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6699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2428" y="384848"/>
            <a:ext cx="7328745" cy="875452"/>
            <a:chOff x="0" y="0"/>
            <a:chExt cx="9771659" cy="11672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71662" cy="1167272"/>
            </a:xfrm>
            <a:custGeom>
              <a:avLst/>
              <a:gdLst/>
              <a:ahLst/>
              <a:cxnLst/>
              <a:rect r="r" b="b" t="t" l="l"/>
              <a:pathLst>
                <a:path h="1167272" w="9771662">
                  <a:moveTo>
                    <a:pt x="0" y="0"/>
                  </a:moveTo>
                  <a:lnTo>
                    <a:pt x="9771662" y="0"/>
                  </a:lnTo>
                  <a:lnTo>
                    <a:pt x="9771662" y="1167272"/>
                  </a:lnTo>
                  <a:lnTo>
                    <a:pt x="0" y="1167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16" r="0" b="-11311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9771659" cy="1186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Literature Survey</a:t>
              </a:r>
            </a:p>
          </p:txBody>
        </p:sp>
      </p:grpSp>
      <p:graphicFrame>
        <p:nvGraphicFramePr>
          <p:cNvPr name="Object 9" id="9"/>
          <p:cNvGraphicFramePr/>
          <p:nvPr/>
        </p:nvGraphicFramePr>
        <p:xfrm>
          <a:off x="589283" y="1529717"/>
          <a:ext cx="8045207" cy="8801100"/>
        </p:xfrm>
        <a:graphic>
          <a:graphicData uri="http://schemas.openxmlformats.org/presentationml/2006/ole">
            <p:oleObj imgW="9791700" imgH="105537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9040226" y="435826"/>
            <a:ext cx="10547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163" y="1203960"/>
            <a:ext cx="9052560" cy="5557523"/>
            <a:chOff x="0" y="0"/>
            <a:chExt cx="12070080" cy="7410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7410069"/>
            </a:xfrm>
            <a:custGeom>
              <a:avLst/>
              <a:gdLst/>
              <a:ahLst/>
              <a:cxnLst/>
              <a:rect r="r" b="b" t="t" l="l"/>
              <a:pathLst>
                <a:path h="7410069" w="12070080">
                  <a:moveTo>
                    <a:pt x="0" y="1235075"/>
                  </a:moveTo>
                  <a:cubicBezTo>
                    <a:pt x="0" y="552958"/>
                    <a:pt x="552958" y="0"/>
                    <a:pt x="1235075" y="0"/>
                  </a:cubicBezTo>
                  <a:lnTo>
                    <a:pt x="10835005" y="0"/>
                  </a:lnTo>
                  <a:cubicBezTo>
                    <a:pt x="11517123" y="0"/>
                    <a:pt x="12070080" y="552958"/>
                    <a:pt x="12070080" y="1235075"/>
                  </a:cubicBezTo>
                  <a:lnTo>
                    <a:pt x="12070080" y="6174994"/>
                  </a:lnTo>
                  <a:cubicBezTo>
                    <a:pt x="12070080" y="6857111"/>
                    <a:pt x="11517123" y="7410069"/>
                    <a:pt x="10835005" y="7410069"/>
                  </a:cubicBezTo>
                  <a:lnTo>
                    <a:pt x="1235075" y="7410069"/>
                  </a:lnTo>
                  <a:cubicBezTo>
                    <a:pt x="552958" y="7410069"/>
                    <a:pt x="0" y="6857111"/>
                    <a:pt x="0" y="6174994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6699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12428" y="132825"/>
            <a:ext cx="7328745" cy="875454"/>
            <a:chOff x="0" y="0"/>
            <a:chExt cx="9771659" cy="11672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71662" cy="1167274"/>
            </a:xfrm>
            <a:custGeom>
              <a:avLst/>
              <a:gdLst/>
              <a:ahLst/>
              <a:cxnLst/>
              <a:rect r="r" b="b" t="t" l="l"/>
              <a:pathLst>
                <a:path h="1167274" w="9771662">
                  <a:moveTo>
                    <a:pt x="0" y="0"/>
                  </a:moveTo>
                  <a:lnTo>
                    <a:pt x="9771662" y="0"/>
                  </a:lnTo>
                  <a:lnTo>
                    <a:pt x="9771662" y="1167274"/>
                  </a:lnTo>
                  <a:lnTo>
                    <a:pt x="0" y="11672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16" r="0" b="-1131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9771659" cy="1186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Research Gaps Identified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4748" y="2392470"/>
            <a:ext cx="8304105" cy="4077548"/>
            <a:chOff x="0" y="0"/>
            <a:chExt cx="11072139" cy="54367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72114" cy="5436743"/>
            </a:xfrm>
            <a:custGeom>
              <a:avLst/>
              <a:gdLst/>
              <a:ahLst/>
              <a:cxnLst/>
              <a:rect r="r" b="b" t="t" l="l"/>
              <a:pathLst>
                <a:path h="5436743" w="11072114">
                  <a:moveTo>
                    <a:pt x="0" y="0"/>
                  </a:moveTo>
                  <a:lnTo>
                    <a:pt x="11072114" y="0"/>
                  </a:lnTo>
                  <a:lnTo>
                    <a:pt x="11072114" y="5436743"/>
                  </a:lnTo>
                  <a:lnTo>
                    <a:pt x="0" y="54367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965532" y="283441"/>
            <a:ext cx="478191" cy="304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15"/>
              </a:lnSpc>
            </a:pPr>
            <a:r>
              <a:rPr lang="en-US" sz="201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2446" y="2549209"/>
            <a:ext cx="7928770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complete end-to-end 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multi-agent log analysis system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automatic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log-family classification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Inadequate 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temporal synchronization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across 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multimodal data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agent-based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preprocessing and cleaning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Weak integration between 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anomaly detection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RCA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orchestration of existing ML models using 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agents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SLM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-based actionable insights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dynamic 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agent 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coordination and context sharing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integration of the complete workflow with 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Kubernetes logs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privacy-preserving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agent architectures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163" y="1203960"/>
            <a:ext cx="9052560" cy="5557523"/>
            <a:chOff x="0" y="0"/>
            <a:chExt cx="12070080" cy="7410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7410069"/>
            </a:xfrm>
            <a:custGeom>
              <a:avLst/>
              <a:gdLst/>
              <a:ahLst/>
              <a:cxnLst/>
              <a:rect r="r" b="b" t="t" l="l"/>
              <a:pathLst>
                <a:path h="7410069" w="12070080">
                  <a:moveTo>
                    <a:pt x="0" y="1235075"/>
                  </a:moveTo>
                  <a:cubicBezTo>
                    <a:pt x="0" y="552958"/>
                    <a:pt x="552958" y="0"/>
                    <a:pt x="1235075" y="0"/>
                  </a:cubicBezTo>
                  <a:lnTo>
                    <a:pt x="10835005" y="0"/>
                  </a:lnTo>
                  <a:cubicBezTo>
                    <a:pt x="11517123" y="0"/>
                    <a:pt x="12070080" y="552958"/>
                    <a:pt x="12070080" y="1235075"/>
                  </a:cubicBezTo>
                  <a:lnTo>
                    <a:pt x="12070080" y="6174994"/>
                  </a:lnTo>
                  <a:cubicBezTo>
                    <a:pt x="12070080" y="6857111"/>
                    <a:pt x="11517123" y="7410069"/>
                    <a:pt x="10835005" y="7410069"/>
                  </a:cubicBezTo>
                  <a:lnTo>
                    <a:pt x="1235075" y="7410069"/>
                  </a:lnTo>
                  <a:cubicBezTo>
                    <a:pt x="552958" y="7410069"/>
                    <a:pt x="0" y="6857111"/>
                    <a:pt x="0" y="6174994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6699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7842" y="132826"/>
            <a:ext cx="7328745" cy="875452"/>
            <a:chOff x="0" y="0"/>
            <a:chExt cx="9771659" cy="11672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71662" cy="1167272"/>
            </a:xfrm>
            <a:custGeom>
              <a:avLst/>
              <a:gdLst/>
              <a:ahLst/>
              <a:cxnLst/>
              <a:rect r="r" b="b" t="t" l="l"/>
              <a:pathLst>
                <a:path h="1167272" w="9771662">
                  <a:moveTo>
                    <a:pt x="0" y="0"/>
                  </a:moveTo>
                  <a:lnTo>
                    <a:pt x="9771662" y="0"/>
                  </a:lnTo>
                  <a:lnTo>
                    <a:pt x="9771662" y="1167272"/>
                  </a:lnTo>
                  <a:lnTo>
                    <a:pt x="0" y="1167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16" r="0" b="-11311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9771659" cy="1186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Justification for the Proposed Problem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4748" y="2392470"/>
            <a:ext cx="8304105" cy="4077548"/>
            <a:chOff x="0" y="0"/>
            <a:chExt cx="11072139" cy="54367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72114" cy="5436743"/>
            </a:xfrm>
            <a:custGeom>
              <a:avLst/>
              <a:gdLst/>
              <a:ahLst/>
              <a:cxnLst/>
              <a:rect r="r" b="b" t="t" l="l"/>
              <a:pathLst>
                <a:path h="5436743" w="11072114">
                  <a:moveTo>
                    <a:pt x="0" y="0"/>
                  </a:moveTo>
                  <a:lnTo>
                    <a:pt x="11072114" y="0"/>
                  </a:lnTo>
                  <a:lnTo>
                    <a:pt x="11072114" y="5436743"/>
                  </a:lnTo>
                  <a:lnTo>
                    <a:pt x="0" y="54367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009564" y="435826"/>
            <a:ext cx="29130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2415" y="2005013"/>
            <a:ext cx="7928770" cy="329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Growing 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log volume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diversity make manual log analysis difficult and time-consuming.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research largely focuses on individual tasks such as 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anomaly detection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RCA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or l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og summarization.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Recent LLM- and agent-based approaches show potential, but 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end-to-end coordinatio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of these tasks is still limited.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Different log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families require different preprocessing and analysis strategies, creating a need for 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intelligent workflow selection.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ML models can perform accurate anomaly detection, but they are generally not autonomous in deciding 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when and how to use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these models.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anomaly detection result alone 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does not explain why the anomaly occurred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what action should be taken.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Combining specialized agents for preprocessing, anomaly detection, RCA, and SLM-based insights can provide a more complete analysis workflow.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architecture can initially work with manually uploaded logs and later be extended to real-time Kubernetes logs, making the system practical and scalable.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163" y="1203960"/>
            <a:ext cx="9052560" cy="5557523"/>
            <a:chOff x="0" y="0"/>
            <a:chExt cx="12070080" cy="7410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7410069"/>
            </a:xfrm>
            <a:custGeom>
              <a:avLst/>
              <a:gdLst/>
              <a:ahLst/>
              <a:cxnLst/>
              <a:rect r="r" b="b" t="t" l="l"/>
              <a:pathLst>
                <a:path h="7410069" w="12070080">
                  <a:moveTo>
                    <a:pt x="0" y="1235075"/>
                  </a:moveTo>
                  <a:cubicBezTo>
                    <a:pt x="0" y="552958"/>
                    <a:pt x="552958" y="0"/>
                    <a:pt x="1235075" y="0"/>
                  </a:cubicBezTo>
                  <a:lnTo>
                    <a:pt x="10835005" y="0"/>
                  </a:lnTo>
                  <a:cubicBezTo>
                    <a:pt x="11517123" y="0"/>
                    <a:pt x="12070080" y="552958"/>
                    <a:pt x="12070080" y="1235075"/>
                  </a:cubicBezTo>
                  <a:lnTo>
                    <a:pt x="12070080" y="6174994"/>
                  </a:lnTo>
                  <a:cubicBezTo>
                    <a:pt x="12070080" y="6857111"/>
                    <a:pt x="11517123" y="7410069"/>
                    <a:pt x="10835005" y="7410069"/>
                  </a:cubicBezTo>
                  <a:lnTo>
                    <a:pt x="1235075" y="7410069"/>
                  </a:lnTo>
                  <a:cubicBezTo>
                    <a:pt x="552958" y="7410069"/>
                    <a:pt x="0" y="6857111"/>
                    <a:pt x="0" y="6174994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6699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7842" y="192200"/>
            <a:ext cx="7328745" cy="875454"/>
            <a:chOff x="0" y="0"/>
            <a:chExt cx="9771659" cy="11672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71662" cy="1167274"/>
            </a:xfrm>
            <a:custGeom>
              <a:avLst/>
              <a:gdLst/>
              <a:ahLst/>
              <a:cxnLst/>
              <a:rect r="r" b="b" t="t" l="l"/>
              <a:pathLst>
                <a:path h="1167274" w="9771662">
                  <a:moveTo>
                    <a:pt x="0" y="0"/>
                  </a:moveTo>
                  <a:lnTo>
                    <a:pt x="9771662" y="0"/>
                  </a:lnTo>
                  <a:lnTo>
                    <a:pt x="9771662" y="1167274"/>
                  </a:lnTo>
                  <a:lnTo>
                    <a:pt x="0" y="11672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16" r="0" b="-1131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9771659" cy="1186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Pipeline</a:t>
              </a: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of the Proposed System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73356" y="3092797"/>
            <a:ext cx="8888173" cy="1465383"/>
          </a:xfrm>
          <a:custGeom>
            <a:avLst/>
            <a:gdLst/>
            <a:ahLst/>
            <a:cxnLst/>
            <a:rect r="r" b="b" t="t" l="l"/>
            <a:pathLst>
              <a:path h="1465383" w="8888173">
                <a:moveTo>
                  <a:pt x="0" y="0"/>
                </a:moveTo>
                <a:lnTo>
                  <a:pt x="8888174" y="0"/>
                </a:lnTo>
                <a:lnTo>
                  <a:pt x="8888174" y="1465384"/>
                </a:lnTo>
                <a:lnTo>
                  <a:pt x="0" y="1465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24" t="0" r="-924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019089" y="435826"/>
            <a:ext cx="212443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37842" y="192200"/>
            <a:ext cx="7328745" cy="875454"/>
            <a:chOff x="0" y="0"/>
            <a:chExt cx="9771659" cy="11672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771662" cy="1167274"/>
            </a:xfrm>
            <a:custGeom>
              <a:avLst/>
              <a:gdLst/>
              <a:ahLst/>
              <a:cxnLst/>
              <a:rect r="r" b="b" t="t" l="l"/>
              <a:pathLst>
                <a:path h="1167274" w="9771662">
                  <a:moveTo>
                    <a:pt x="0" y="0"/>
                  </a:moveTo>
                  <a:lnTo>
                    <a:pt x="9771662" y="0"/>
                  </a:lnTo>
                  <a:lnTo>
                    <a:pt x="9771662" y="1167274"/>
                  </a:lnTo>
                  <a:lnTo>
                    <a:pt x="0" y="11672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3116" r="0" b="-11311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9771659" cy="1186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Architecture</a:t>
              </a: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of the Proposed System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89283" y="1067654"/>
            <a:ext cx="8674062" cy="5921610"/>
          </a:xfrm>
          <a:custGeom>
            <a:avLst/>
            <a:gdLst/>
            <a:ahLst/>
            <a:cxnLst/>
            <a:rect r="r" b="b" t="t" l="l"/>
            <a:pathLst>
              <a:path h="5921610" w="8674062">
                <a:moveTo>
                  <a:pt x="0" y="0"/>
                </a:moveTo>
                <a:lnTo>
                  <a:pt x="8674062" y="0"/>
                </a:lnTo>
                <a:lnTo>
                  <a:pt x="8674062" y="5921610"/>
                </a:lnTo>
                <a:lnTo>
                  <a:pt x="0" y="59216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019089" y="435826"/>
            <a:ext cx="24425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163" y="1203960"/>
            <a:ext cx="9052560" cy="5557523"/>
            <a:chOff x="0" y="0"/>
            <a:chExt cx="12070080" cy="7410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7410069"/>
            </a:xfrm>
            <a:custGeom>
              <a:avLst/>
              <a:gdLst/>
              <a:ahLst/>
              <a:cxnLst/>
              <a:rect r="r" b="b" t="t" l="l"/>
              <a:pathLst>
                <a:path h="7410069" w="12070080">
                  <a:moveTo>
                    <a:pt x="0" y="1235075"/>
                  </a:moveTo>
                  <a:cubicBezTo>
                    <a:pt x="0" y="552958"/>
                    <a:pt x="552958" y="0"/>
                    <a:pt x="1235075" y="0"/>
                  </a:cubicBezTo>
                  <a:lnTo>
                    <a:pt x="10835005" y="0"/>
                  </a:lnTo>
                  <a:cubicBezTo>
                    <a:pt x="11517123" y="0"/>
                    <a:pt x="12070080" y="552958"/>
                    <a:pt x="12070080" y="1235075"/>
                  </a:cubicBezTo>
                  <a:lnTo>
                    <a:pt x="12070080" y="6174994"/>
                  </a:lnTo>
                  <a:cubicBezTo>
                    <a:pt x="12070080" y="6857111"/>
                    <a:pt x="11517123" y="7410069"/>
                    <a:pt x="10835005" y="7410069"/>
                  </a:cubicBezTo>
                  <a:lnTo>
                    <a:pt x="1235075" y="7410069"/>
                  </a:lnTo>
                  <a:cubicBezTo>
                    <a:pt x="552958" y="7410069"/>
                    <a:pt x="0" y="6857111"/>
                    <a:pt x="0" y="6174994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6699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7842" y="132826"/>
            <a:ext cx="7328745" cy="875454"/>
            <a:chOff x="0" y="0"/>
            <a:chExt cx="9771659" cy="11672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71662" cy="1167274"/>
            </a:xfrm>
            <a:custGeom>
              <a:avLst/>
              <a:gdLst/>
              <a:ahLst/>
              <a:cxnLst/>
              <a:rect r="r" b="b" t="t" l="l"/>
              <a:pathLst>
                <a:path h="1167274" w="9771662">
                  <a:moveTo>
                    <a:pt x="0" y="0"/>
                  </a:moveTo>
                  <a:lnTo>
                    <a:pt x="9771662" y="0"/>
                  </a:lnTo>
                  <a:lnTo>
                    <a:pt x="9771662" y="1167274"/>
                  </a:lnTo>
                  <a:lnTo>
                    <a:pt x="0" y="11672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16" r="0" b="-1131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9771659" cy="1186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Architecture</a:t>
              </a: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of the Proposed System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4748" y="2392470"/>
            <a:ext cx="8304105" cy="4077548"/>
            <a:chOff x="0" y="0"/>
            <a:chExt cx="11072139" cy="54367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72114" cy="5436743"/>
            </a:xfrm>
            <a:custGeom>
              <a:avLst/>
              <a:gdLst/>
              <a:ahLst/>
              <a:cxnLst/>
              <a:rect r="r" b="b" t="t" l="l"/>
              <a:pathLst>
                <a:path h="5436743" w="11072114">
                  <a:moveTo>
                    <a:pt x="0" y="0"/>
                  </a:moveTo>
                  <a:lnTo>
                    <a:pt x="11072114" y="0"/>
                  </a:lnTo>
                  <a:lnTo>
                    <a:pt x="11072114" y="5436743"/>
                  </a:lnTo>
                  <a:lnTo>
                    <a:pt x="0" y="54367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019089" y="435826"/>
            <a:ext cx="21586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0447" y="1598228"/>
            <a:ext cx="8188406" cy="417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Log </a:t>
            </a: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Ingestion: 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initially accepts manually uploaded log files, with future support for real-time Kubernetes logs.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Log Identification Agent: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Identifies the incoming log type and assigns it to the appropriate log family/workflow.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Preprocessing &amp; Cleaning Agent: 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Performs parsing, normalization, de-duplication, noise removal, and formatting before analysis.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Medallion-Based Data Processing: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Organizes the processed logs into Bronze (raw cleaned logs), Silver (structured/enriched data), and Gold (aggregated/correlated data) layers.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Anomaly Detection Agent: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Invokes the existing ML pipeline consisting of Transformer embeddings → FAISS Vector DB → RAG augmentation → Random Forest classification to identify anomalies.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Root Cause Analysis Agent: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 anomaly evidence, similar logs, contextual data, and correlations to determine probable root causes.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Insight Agent: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Uses an SLM to generate explanations, impact analysis, recommendations, and next-best actions from the detected anomaly and RCA results.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Coordinator Agent: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Acts as the orchestration layer, managing workflow planning, task assignment, inter-agent communication, context/memory, output validation, and end-to-end execution.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User Interface: 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Presents the final anomaly summary, RCA findings, AI-generated insights, recommendations, supp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ortin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 ev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dence, and reports to the user.</a:t>
            </a:r>
          </a:p>
          <a:p>
            <a:pPr algn="l">
              <a:lnSpc>
                <a:spcPts val="1791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50520" y="1008280"/>
            <a:ext cx="9052560" cy="5557523"/>
            <a:chOff x="0" y="0"/>
            <a:chExt cx="12070080" cy="7410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7410069"/>
            </a:xfrm>
            <a:custGeom>
              <a:avLst/>
              <a:gdLst/>
              <a:ahLst/>
              <a:cxnLst/>
              <a:rect r="r" b="b" t="t" l="l"/>
              <a:pathLst>
                <a:path h="7410069" w="12070080">
                  <a:moveTo>
                    <a:pt x="0" y="1235075"/>
                  </a:moveTo>
                  <a:cubicBezTo>
                    <a:pt x="0" y="552958"/>
                    <a:pt x="552958" y="0"/>
                    <a:pt x="1235075" y="0"/>
                  </a:cubicBezTo>
                  <a:lnTo>
                    <a:pt x="10835005" y="0"/>
                  </a:lnTo>
                  <a:cubicBezTo>
                    <a:pt x="11517123" y="0"/>
                    <a:pt x="12070080" y="552958"/>
                    <a:pt x="12070080" y="1235075"/>
                  </a:cubicBezTo>
                  <a:lnTo>
                    <a:pt x="12070080" y="6174994"/>
                  </a:lnTo>
                  <a:cubicBezTo>
                    <a:pt x="12070080" y="6857111"/>
                    <a:pt x="11517123" y="7410069"/>
                    <a:pt x="10835005" y="7410069"/>
                  </a:cubicBezTo>
                  <a:lnTo>
                    <a:pt x="1235075" y="7410069"/>
                  </a:lnTo>
                  <a:cubicBezTo>
                    <a:pt x="552958" y="7410069"/>
                    <a:pt x="0" y="6857111"/>
                    <a:pt x="0" y="6174994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6699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7842" y="132826"/>
            <a:ext cx="7328745" cy="875454"/>
            <a:chOff x="0" y="0"/>
            <a:chExt cx="9771659" cy="11672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71662" cy="1167274"/>
            </a:xfrm>
            <a:custGeom>
              <a:avLst/>
              <a:gdLst/>
              <a:ahLst/>
              <a:cxnLst/>
              <a:rect r="r" b="b" t="t" l="l"/>
              <a:pathLst>
                <a:path h="1167274" w="9771662">
                  <a:moveTo>
                    <a:pt x="0" y="0"/>
                  </a:moveTo>
                  <a:lnTo>
                    <a:pt x="9771662" y="0"/>
                  </a:lnTo>
                  <a:lnTo>
                    <a:pt x="9771662" y="1167274"/>
                  </a:lnTo>
                  <a:lnTo>
                    <a:pt x="0" y="11672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16" r="0" b="-11311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9771659" cy="1186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ML Pipeline - Project Phase I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019089" y="435826"/>
            <a:ext cx="21586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309132" y="1704873"/>
            <a:ext cx="4486790" cy="440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48"/>
              </a:lnSpc>
              <a:spcBef>
                <a:spcPct val="0"/>
              </a:spcBef>
            </a:pPr>
            <a:r>
              <a:rPr lang="en-US" sz="14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b="true" sz="145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Ingestion</a:t>
            </a:r>
            <a:r>
              <a:rPr lang="en-US" sz="14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workflow starts by collecting Raw HDFS Log Data.</a:t>
            </a:r>
          </a:p>
          <a:p>
            <a:pPr algn="just">
              <a:lnSpc>
                <a:spcPts val="1748"/>
              </a:lnSpc>
              <a:spcBef>
                <a:spcPct val="0"/>
              </a:spcBef>
            </a:pPr>
          </a:p>
          <a:p>
            <a:pPr algn="just">
              <a:lnSpc>
                <a:spcPts val="1748"/>
              </a:lnSpc>
              <a:spcBef>
                <a:spcPct val="0"/>
              </a:spcBef>
            </a:pPr>
            <a:r>
              <a:rPr lang="en-US" sz="14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b="true" sz="145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Preparation</a:t>
            </a:r>
            <a:r>
              <a:rPr lang="en-US" sz="14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raw data is passed through a Data Pre-Processing Module to clean and format it for analysis.</a:t>
            </a:r>
          </a:p>
          <a:p>
            <a:pPr algn="just">
              <a:lnSpc>
                <a:spcPts val="1748"/>
              </a:lnSpc>
              <a:spcBef>
                <a:spcPct val="0"/>
              </a:spcBef>
            </a:pPr>
          </a:p>
          <a:p>
            <a:pPr algn="just">
              <a:lnSpc>
                <a:spcPts val="1748"/>
              </a:lnSpc>
              <a:spcBef>
                <a:spcPct val="0"/>
              </a:spcBef>
            </a:pPr>
            <a:r>
              <a:rPr lang="en-US" sz="14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b="true" sz="145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Encoding</a:t>
            </a:r>
            <a:r>
              <a:rPr lang="en-US" sz="14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processed data is fed into a Transformer Encoder to create representations.</a:t>
            </a:r>
          </a:p>
          <a:p>
            <a:pPr algn="just">
              <a:lnSpc>
                <a:spcPts val="1748"/>
              </a:lnSpc>
              <a:spcBef>
                <a:spcPct val="0"/>
              </a:spcBef>
            </a:pPr>
          </a:p>
          <a:p>
            <a:pPr algn="just">
              <a:lnSpc>
                <a:spcPts val="1748"/>
              </a:lnSpc>
              <a:spcBef>
                <a:spcPct val="0"/>
              </a:spcBef>
            </a:pPr>
            <a:r>
              <a:rPr lang="en-US" sz="14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b="true" sz="145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Augmentation</a:t>
            </a:r>
            <a:r>
              <a:rPr lang="en-US" sz="14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encoded output is merged with information retrieved from a FAISS Vector DB to perform RAG (Retrieval-Augmented Generation) Augmentation.</a:t>
            </a:r>
          </a:p>
          <a:p>
            <a:pPr algn="just">
              <a:lnSpc>
                <a:spcPts val="1748"/>
              </a:lnSpc>
              <a:spcBef>
                <a:spcPct val="0"/>
              </a:spcBef>
            </a:pPr>
          </a:p>
          <a:p>
            <a:pPr algn="just">
              <a:lnSpc>
                <a:spcPts val="1748"/>
              </a:lnSpc>
              <a:spcBef>
                <a:spcPct val="0"/>
              </a:spcBef>
            </a:pPr>
            <a:r>
              <a:rPr lang="en-US" sz="14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b="true" sz="145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Initial Classification</a:t>
            </a:r>
            <a:r>
              <a:rPr lang="en-US" sz="14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The augmented data is evaluated by a Random Forest Classifier.</a:t>
            </a:r>
          </a:p>
          <a:p>
            <a:pPr algn="just">
              <a:lnSpc>
                <a:spcPts val="1748"/>
              </a:lnSpc>
              <a:spcBef>
                <a:spcPct val="0"/>
              </a:spcBef>
            </a:pPr>
          </a:p>
          <a:p>
            <a:pPr algn="just">
              <a:lnSpc>
                <a:spcPts val="1748"/>
              </a:lnSpc>
              <a:spcBef>
                <a:spcPct val="0"/>
              </a:spcBef>
            </a:pPr>
            <a:r>
              <a:rPr lang="en-US" sz="14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</a:t>
            </a:r>
            <a:r>
              <a:rPr lang="en-US" b="true" sz="1457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LLM Analysis</a:t>
            </a:r>
            <a:r>
              <a:rPr lang="en-US" sz="145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An LLM (Gemini) processes the output from the classifier, while also pulling direct contextual data from the FAISS Vector DB. Output is hence a explained prediction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09132" y="1135648"/>
            <a:ext cx="2526506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1"/>
              </a:lnSpc>
              <a:spcBef>
                <a:spcPct val="0"/>
              </a:spcBef>
            </a:pPr>
            <a:r>
              <a:rPr lang="en-US" b="true" sz="22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Testing Architecture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92121" y="1099721"/>
            <a:ext cx="2087647" cy="5183570"/>
          </a:xfrm>
          <a:custGeom>
            <a:avLst/>
            <a:gdLst/>
            <a:ahLst/>
            <a:cxnLst/>
            <a:rect r="r" b="b" t="t" l="l"/>
            <a:pathLst>
              <a:path h="5183570" w="2087647">
                <a:moveTo>
                  <a:pt x="0" y="0"/>
                </a:moveTo>
                <a:lnTo>
                  <a:pt x="2087648" y="0"/>
                </a:lnTo>
                <a:lnTo>
                  <a:pt x="2087648" y="5183569"/>
                </a:lnTo>
                <a:lnTo>
                  <a:pt x="0" y="51835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163" y="1203960"/>
            <a:ext cx="9052560" cy="5557523"/>
            <a:chOff x="0" y="0"/>
            <a:chExt cx="12070080" cy="7410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7410069"/>
            </a:xfrm>
            <a:custGeom>
              <a:avLst/>
              <a:gdLst/>
              <a:ahLst/>
              <a:cxnLst/>
              <a:rect r="r" b="b" t="t" l="l"/>
              <a:pathLst>
                <a:path h="7410069" w="12070080">
                  <a:moveTo>
                    <a:pt x="0" y="1235075"/>
                  </a:moveTo>
                  <a:cubicBezTo>
                    <a:pt x="0" y="552958"/>
                    <a:pt x="552958" y="0"/>
                    <a:pt x="1235075" y="0"/>
                  </a:cubicBezTo>
                  <a:lnTo>
                    <a:pt x="10835005" y="0"/>
                  </a:lnTo>
                  <a:cubicBezTo>
                    <a:pt x="11517123" y="0"/>
                    <a:pt x="12070080" y="552958"/>
                    <a:pt x="12070080" y="1235075"/>
                  </a:cubicBezTo>
                  <a:lnTo>
                    <a:pt x="12070080" y="6174994"/>
                  </a:lnTo>
                  <a:cubicBezTo>
                    <a:pt x="12070080" y="6857111"/>
                    <a:pt x="11517123" y="7410069"/>
                    <a:pt x="10835005" y="7410069"/>
                  </a:cubicBezTo>
                  <a:lnTo>
                    <a:pt x="1235075" y="7410069"/>
                  </a:lnTo>
                  <a:cubicBezTo>
                    <a:pt x="552958" y="7410069"/>
                    <a:pt x="0" y="6857111"/>
                    <a:pt x="0" y="6174994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6699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7842" y="132826"/>
            <a:ext cx="7328745" cy="875452"/>
            <a:chOff x="0" y="0"/>
            <a:chExt cx="9771659" cy="11672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71662" cy="1167272"/>
            </a:xfrm>
            <a:custGeom>
              <a:avLst/>
              <a:gdLst/>
              <a:ahLst/>
              <a:cxnLst/>
              <a:rect r="r" b="b" t="t" l="l"/>
              <a:pathLst>
                <a:path h="1167272" w="9771662">
                  <a:moveTo>
                    <a:pt x="0" y="0"/>
                  </a:moveTo>
                  <a:lnTo>
                    <a:pt x="9771662" y="0"/>
                  </a:lnTo>
                  <a:lnTo>
                    <a:pt x="9771662" y="1167272"/>
                  </a:lnTo>
                  <a:lnTo>
                    <a:pt x="0" y="1167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16" r="0" b="-11311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9771659" cy="1186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Functionalities of the Proposed System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24748" y="2392470"/>
            <a:ext cx="8304105" cy="4077548"/>
            <a:chOff x="0" y="0"/>
            <a:chExt cx="11072139" cy="54367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72114" cy="5436743"/>
            </a:xfrm>
            <a:custGeom>
              <a:avLst/>
              <a:gdLst/>
              <a:ahLst/>
              <a:cxnLst/>
              <a:rect r="r" b="b" t="t" l="l"/>
              <a:pathLst>
                <a:path h="5436743" w="11072114">
                  <a:moveTo>
                    <a:pt x="0" y="0"/>
                  </a:moveTo>
                  <a:lnTo>
                    <a:pt x="11072114" y="0"/>
                  </a:lnTo>
                  <a:lnTo>
                    <a:pt x="11072114" y="5436743"/>
                  </a:lnTo>
                  <a:lnTo>
                    <a:pt x="0" y="543674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011160" y="435826"/>
            <a:ext cx="2110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40447" y="1598228"/>
            <a:ext cx="8188406" cy="439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Log Classification – Input Agent identifies the log type and assigns it to the appropriate log family.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Preprocessing &amp; Cleaning – Agents parse, normalize, clean, and prepare logs for analysis.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Medallion-Based Data Processing – Organizes data through Bronze → Silver → Gold layers.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Anomaly Detection – Anomaly Detection Agent invokes the existing Transformer encoder + Embeddings + FAISS + RAG Augmentation + Random Forest Classifier.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Root Cause Analysis – RCA Agent analyzes anomalous events and relevant contextual evidence to identify probable causes.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SLM-Based Insights – Insight Agent generates explanations, impact analysis, and actionable recommendations.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Multi-Agent Orchestration – Coordinator Agent manages communication, context sharing, and execution between specialized agents.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Manual-to-Live Data Ingestion – Initially supports manual log uploads, with future integration for real-time Kubernetes logs.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Unified Incident View – Presents anomaly, RCA findings, evidence, and AI-generated insights through the application interface.</a:t>
            </a:r>
          </a:p>
          <a:p>
            <a:pPr algn="l">
              <a:lnSpc>
                <a:spcPts val="1791"/>
              </a:lnSpc>
            </a:pPr>
          </a:p>
          <a:p>
            <a:pPr algn="l">
              <a:lnSpc>
                <a:spcPts val="1791"/>
              </a:lnSpc>
            </a:pP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Core Functionality</a:t>
            </a:r>
          </a:p>
          <a:p>
            <a:pPr algn="l">
              <a:lnSpc>
                <a:spcPts val="1791"/>
              </a:lnSpc>
            </a:pPr>
          </a:p>
          <a:p>
            <a:pPr algn="l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→ Preprocess → Clean → Detect → Diagnose → Explain → Recommend → Orchestrate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163" y="1203960"/>
            <a:ext cx="9052560" cy="5557523"/>
            <a:chOff x="0" y="0"/>
            <a:chExt cx="12070080" cy="7410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7410069"/>
            </a:xfrm>
            <a:custGeom>
              <a:avLst/>
              <a:gdLst/>
              <a:ahLst/>
              <a:cxnLst/>
              <a:rect r="r" b="b" t="t" l="l"/>
              <a:pathLst>
                <a:path h="7410069" w="12070080">
                  <a:moveTo>
                    <a:pt x="0" y="1235075"/>
                  </a:moveTo>
                  <a:cubicBezTo>
                    <a:pt x="0" y="552958"/>
                    <a:pt x="552958" y="0"/>
                    <a:pt x="1235075" y="0"/>
                  </a:cubicBezTo>
                  <a:lnTo>
                    <a:pt x="10835005" y="0"/>
                  </a:lnTo>
                  <a:cubicBezTo>
                    <a:pt x="11517123" y="0"/>
                    <a:pt x="12070080" y="552958"/>
                    <a:pt x="12070080" y="1235075"/>
                  </a:cubicBezTo>
                  <a:lnTo>
                    <a:pt x="12070080" y="6174994"/>
                  </a:lnTo>
                  <a:cubicBezTo>
                    <a:pt x="12070080" y="6857111"/>
                    <a:pt x="11517123" y="7410069"/>
                    <a:pt x="10835005" y="7410069"/>
                  </a:cubicBezTo>
                  <a:lnTo>
                    <a:pt x="1235075" y="7410069"/>
                  </a:lnTo>
                  <a:cubicBezTo>
                    <a:pt x="552958" y="7410069"/>
                    <a:pt x="0" y="6857111"/>
                    <a:pt x="0" y="6174994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6699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0393" y="90368"/>
            <a:ext cx="7816425" cy="960364"/>
            <a:chOff x="0" y="0"/>
            <a:chExt cx="10421899" cy="12804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21903" cy="1280480"/>
            </a:xfrm>
            <a:custGeom>
              <a:avLst/>
              <a:gdLst/>
              <a:ahLst/>
              <a:cxnLst/>
              <a:rect r="r" b="b" t="t" l="l"/>
              <a:pathLst>
                <a:path h="1280480" w="10421903">
                  <a:moveTo>
                    <a:pt x="0" y="0"/>
                  </a:moveTo>
                  <a:lnTo>
                    <a:pt x="10421903" y="0"/>
                  </a:lnTo>
                  <a:lnTo>
                    <a:pt x="10421903" y="1280480"/>
                  </a:lnTo>
                  <a:lnTo>
                    <a:pt x="0" y="1280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589" r="0" b="-10859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0421899" cy="1299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Software/Tools Requirements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019089" y="435826"/>
            <a:ext cx="225331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31520" y="2001522"/>
            <a:ext cx="4187085" cy="395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1"/>
              </a:lnSpc>
            </a:pP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 Tools</a:t>
            </a:r>
          </a:p>
          <a:p>
            <a:pPr algn="l">
              <a:lnSpc>
                <a:spcPts val="1791"/>
              </a:lnSpc>
            </a:pP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– Core development and ML pipeline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PyTorch / Scikit-learn – Deep learning and Random Forest models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Sentence Transformers – Log embedding generation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FAISS – Similarity search and retrieval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LangGraph / LangChain – Multi-agent orchestration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SLM / LLM – RCA, reasoning and AI-based insights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Pandas &amp; NumPy – Data preprocessing and cleaning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Streamlit – User interface and visualization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&amp; GitHub – Version control and collaboration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Kubernetes – Future real-time log ingestion and testing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12991" y="2001522"/>
            <a:ext cx="4231430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1"/>
              </a:lnSpc>
            </a:pPr>
            <a:r>
              <a:rPr lang="en-US" b="true" sz="149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Requirements</a:t>
            </a:r>
          </a:p>
          <a:p>
            <a:pPr algn="l">
              <a:lnSpc>
                <a:spcPts val="1791"/>
              </a:lnSpc>
            </a:pP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Processor: Intel i5 / AMD Ryzen 5 or higher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RAM: Minimum 8 GB, 16 GB recommended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Storage: Minimum 10 GB available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GPU: NVIDIA GPU recommended for faster model inference; optional for initial development</a:t>
            </a:r>
          </a:p>
          <a:p>
            <a:pPr algn="l" marL="322410" indent="-161205" lvl="1">
              <a:lnSpc>
                <a:spcPts val="1791"/>
              </a:lnSpc>
              <a:buFont typeface="Arial"/>
              <a:buChar char="•"/>
            </a:pPr>
            <a:r>
              <a:rPr lang="en-US" sz="149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OS: Windows / Linux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163" y="1203960"/>
            <a:ext cx="9052560" cy="5557523"/>
            <a:chOff x="0" y="0"/>
            <a:chExt cx="12070080" cy="7410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7410069"/>
            </a:xfrm>
            <a:custGeom>
              <a:avLst/>
              <a:gdLst/>
              <a:ahLst/>
              <a:cxnLst/>
              <a:rect r="r" b="b" t="t" l="l"/>
              <a:pathLst>
                <a:path h="7410069" w="12070080">
                  <a:moveTo>
                    <a:pt x="0" y="1235075"/>
                  </a:moveTo>
                  <a:cubicBezTo>
                    <a:pt x="0" y="552958"/>
                    <a:pt x="552958" y="0"/>
                    <a:pt x="1235075" y="0"/>
                  </a:cubicBezTo>
                  <a:lnTo>
                    <a:pt x="10835005" y="0"/>
                  </a:lnTo>
                  <a:cubicBezTo>
                    <a:pt x="11517123" y="0"/>
                    <a:pt x="12070080" y="552958"/>
                    <a:pt x="12070080" y="1235075"/>
                  </a:cubicBezTo>
                  <a:lnTo>
                    <a:pt x="12070080" y="6174994"/>
                  </a:lnTo>
                  <a:cubicBezTo>
                    <a:pt x="12070080" y="6857111"/>
                    <a:pt x="11517123" y="7410069"/>
                    <a:pt x="10835005" y="7410069"/>
                  </a:cubicBezTo>
                  <a:lnTo>
                    <a:pt x="1235075" y="7410069"/>
                  </a:lnTo>
                  <a:cubicBezTo>
                    <a:pt x="552958" y="7410069"/>
                    <a:pt x="0" y="6857111"/>
                    <a:pt x="0" y="6174994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6699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0393" y="90368"/>
            <a:ext cx="7816425" cy="960364"/>
            <a:chOff x="0" y="0"/>
            <a:chExt cx="10421899" cy="12804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21903" cy="1280480"/>
            </a:xfrm>
            <a:custGeom>
              <a:avLst/>
              <a:gdLst/>
              <a:ahLst/>
              <a:cxnLst/>
              <a:rect r="r" b="b" t="t" l="l"/>
              <a:pathLst>
                <a:path h="1280480" w="10421903">
                  <a:moveTo>
                    <a:pt x="0" y="0"/>
                  </a:moveTo>
                  <a:lnTo>
                    <a:pt x="10421903" y="0"/>
                  </a:lnTo>
                  <a:lnTo>
                    <a:pt x="10421903" y="1280480"/>
                  </a:lnTo>
                  <a:lnTo>
                    <a:pt x="0" y="1280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589" r="0" b="-10859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0421899" cy="1299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Dataset Description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21995" y="1953897"/>
            <a:ext cx="8518077" cy="258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Static Benchmark Dataset: HDFS (Hadoop Distributed File System)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Description &amp; Scale: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Standard academic benchmark dataset comprising over 11.17 million log records generated across 200+ Amazon EC2 nodes.</a:t>
            </a:r>
          </a:p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Ground Truth &amp; Labeling: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Features block-level trace IDs () labeled as normal execution sequences or anomalous system failures.</a:t>
            </a:r>
          </a:p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Role in Pipeline: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Serves as the ground truth baseline to train the Transformer Encoder and Random Forest Classifier, as well as validate Log Identification and Preprocessing agents.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85295" y="4461344"/>
            <a:ext cx="9340480" cy="1692815"/>
          </a:xfrm>
          <a:custGeom>
            <a:avLst/>
            <a:gdLst/>
            <a:ahLst/>
            <a:cxnLst/>
            <a:rect r="r" b="b" t="t" l="l"/>
            <a:pathLst>
              <a:path h="1692815" w="9340480">
                <a:moveTo>
                  <a:pt x="0" y="0"/>
                </a:moveTo>
                <a:lnTo>
                  <a:pt x="9340480" y="0"/>
                </a:lnTo>
                <a:lnTo>
                  <a:pt x="9340480" y="1692814"/>
                </a:lnTo>
                <a:lnTo>
                  <a:pt x="0" y="1692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62" r="-2474" b="-4251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934657" y="435826"/>
            <a:ext cx="2110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163" y="1203960"/>
            <a:ext cx="9052560" cy="5557523"/>
            <a:chOff x="0" y="0"/>
            <a:chExt cx="12070080" cy="7410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7410069"/>
            </a:xfrm>
            <a:custGeom>
              <a:avLst/>
              <a:gdLst/>
              <a:ahLst/>
              <a:cxnLst/>
              <a:rect r="r" b="b" t="t" l="l"/>
              <a:pathLst>
                <a:path h="7410069" w="12070080">
                  <a:moveTo>
                    <a:pt x="0" y="1235075"/>
                  </a:moveTo>
                  <a:cubicBezTo>
                    <a:pt x="0" y="552958"/>
                    <a:pt x="552958" y="0"/>
                    <a:pt x="1235075" y="0"/>
                  </a:cubicBezTo>
                  <a:lnTo>
                    <a:pt x="10835005" y="0"/>
                  </a:lnTo>
                  <a:cubicBezTo>
                    <a:pt x="11517123" y="0"/>
                    <a:pt x="12070080" y="552958"/>
                    <a:pt x="12070080" y="1235075"/>
                  </a:cubicBezTo>
                  <a:lnTo>
                    <a:pt x="12070080" y="6174994"/>
                  </a:lnTo>
                  <a:cubicBezTo>
                    <a:pt x="12070080" y="6857111"/>
                    <a:pt x="11517123" y="7410069"/>
                    <a:pt x="10835005" y="7410069"/>
                  </a:cubicBezTo>
                  <a:lnTo>
                    <a:pt x="1235075" y="7410069"/>
                  </a:lnTo>
                  <a:cubicBezTo>
                    <a:pt x="552958" y="7410069"/>
                    <a:pt x="0" y="6857111"/>
                    <a:pt x="0" y="6174994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6699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10393" y="90368"/>
            <a:ext cx="7816425" cy="960364"/>
            <a:chOff x="0" y="0"/>
            <a:chExt cx="10421899" cy="12804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21903" cy="1280480"/>
            </a:xfrm>
            <a:custGeom>
              <a:avLst/>
              <a:gdLst/>
              <a:ahLst/>
              <a:cxnLst/>
              <a:rect r="r" b="b" t="t" l="l"/>
              <a:pathLst>
                <a:path h="1280480" w="10421903">
                  <a:moveTo>
                    <a:pt x="0" y="0"/>
                  </a:moveTo>
                  <a:lnTo>
                    <a:pt x="10421903" y="0"/>
                  </a:lnTo>
                  <a:lnTo>
                    <a:pt x="10421903" y="1280480"/>
                  </a:lnTo>
                  <a:lnTo>
                    <a:pt x="0" y="1280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589" r="0" b="-10859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0421899" cy="1299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Dataset Description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02945" y="1953897"/>
            <a:ext cx="8518077" cy="329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Dynamic Real-Time Dataset: Kubernetes Cluster Logs</a:t>
            </a:r>
          </a:p>
          <a:p>
            <a:pPr algn="l">
              <a:lnSpc>
                <a:spcPts val="2100"/>
              </a:lnSpc>
            </a:pPr>
          </a:p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Deployment &amp; Workloads: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Multi-service containerized microservice architectures deployed across Kubernetes clusters.</a:t>
            </a:r>
          </a:p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Fault Injection &amp; Anomaly Simulation: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Controlled chaos engineering experiments (via Chaos Mesh / LitmusChaos) to inject realistic, real-time anomalies:</a:t>
            </a:r>
          </a:p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Resource Exhaustion: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Memory leaks, CPU throttling, and thread exhaustion.</a:t>
            </a:r>
          </a:p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Network Faults: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Packet corruption, dynamic latency spikes, and DNS resolution failures.</a:t>
            </a:r>
          </a:p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Lifecycle &amp; State Errors: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Pod crash loops, image pull errors, and failed volume mounts.</a:t>
            </a:r>
          </a:p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Log Family Diversity:</a:t>
            </a:r>
            <a:r>
              <a:rPr lang="en-US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Heterogeneous log types including application logs (JSON/plain text), ingress controller logs, and Kubernetes system events .</a:t>
            </a:r>
          </a:p>
          <a:p>
            <a:pPr algn="l">
              <a:lnSpc>
                <a:spcPts val="210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589283" y="5252722"/>
            <a:ext cx="8854440" cy="1330958"/>
          </a:xfrm>
          <a:custGeom>
            <a:avLst/>
            <a:gdLst/>
            <a:ahLst/>
            <a:cxnLst/>
            <a:rect r="r" b="b" t="t" l="l"/>
            <a:pathLst>
              <a:path h="1330958" w="8854440">
                <a:moveTo>
                  <a:pt x="0" y="0"/>
                </a:moveTo>
                <a:lnTo>
                  <a:pt x="8854440" y="0"/>
                </a:lnTo>
                <a:lnTo>
                  <a:pt x="8854440" y="1330958"/>
                </a:lnTo>
                <a:lnTo>
                  <a:pt x="0" y="1330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4316" r="0" b="-4082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019089" y="435826"/>
            <a:ext cx="21586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163" y="1203960"/>
            <a:ext cx="9052560" cy="5557523"/>
            <a:chOff x="0" y="0"/>
            <a:chExt cx="12070080" cy="7410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7410069"/>
            </a:xfrm>
            <a:custGeom>
              <a:avLst/>
              <a:gdLst/>
              <a:ahLst/>
              <a:cxnLst/>
              <a:rect r="r" b="b" t="t" l="l"/>
              <a:pathLst>
                <a:path h="7410069" w="12070080">
                  <a:moveTo>
                    <a:pt x="0" y="1235075"/>
                  </a:moveTo>
                  <a:cubicBezTo>
                    <a:pt x="0" y="552958"/>
                    <a:pt x="552958" y="0"/>
                    <a:pt x="1235075" y="0"/>
                  </a:cubicBezTo>
                  <a:lnTo>
                    <a:pt x="10835005" y="0"/>
                  </a:lnTo>
                  <a:cubicBezTo>
                    <a:pt x="11517123" y="0"/>
                    <a:pt x="12070080" y="552958"/>
                    <a:pt x="12070080" y="1235075"/>
                  </a:cubicBezTo>
                  <a:lnTo>
                    <a:pt x="12070080" y="6174994"/>
                  </a:lnTo>
                  <a:cubicBezTo>
                    <a:pt x="12070080" y="6857111"/>
                    <a:pt x="11517123" y="7410069"/>
                    <a:pt x="10835005" y="7410069"/>
                  </a:cubicBezTo>
                  <a:lnTo>
                    <a:pt x="1235075" y="7410069"/>
                  </a:lnTo>
                  <a:cubicBezTo>
                    <a:pt x="552958" y="7410069"/>
                    <a:pt x="0" y="6857111"/>
                    <a:pt x="0" y="6174994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6699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53219" y="273858"/>
            <a:ext cx="8791785" cy="803348"/>
            <a:chOff x="0" y="0"/>
            <a:chExt cx="11722379" cy="10711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22382" cy="1071131"/>
            </a:xfrm>
            <a:custGeom>
              <a:avLst/>
              <a:gdLst/>
              <a:ahLst/>
              <a:cxnLst/>
              <a:rect r="r" b="b" t="t" l="l"/>
              <a:pathLst>
                <a:path h="1071131" w="11722382">
                  <a:moveTo>
                    <a:pt x="0" y="0"/>
                  </a:moveTo>
                  <a:lnTo>
                    <a:pt x="11722382" y="0"/>
                  </a:lnTo>
                  <a:lnTo>
                    <a:pt x="11722382" y="1071131"/>
                  </a:lnTo>
                  <a:lnTo>
                    <a:pt x="0" y="10711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3242" r="0" b="-16324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722379" cy="109018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Timeline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5400000">
            <a:off x="1242108" y="2372239"/>
            <a:ext cx="673208" cy="762676"/>
            <a:chOff x="0" y="0"/>
            <a:chExt cx="897611" cy="101690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7636" cy="1016889"/>
            </a:xfrm>
            <a:custGeom>
              <a:avLst/>
              <a:gdLst/>
              <a:ahLst/>
              <a:cxnLst/>
              <a:rect r="r" b="b" t="t" l="l"/>
              <a:pathLst>
                <a:path h="1016889" w="897636">
                  <a:moveTo>
                    <a:pt x="0" y="722122"/>
                  </a:moveTo>
                  <a:lnTo>
                    <a:pt x="525780" y="722122"/>
                  </a:lnTo>
                  <a:lnTo>
                    <a:pt x="525780" y="321183"/>
                  </a:lnTo>
                  <a:lnTo>
                    <a:pt x="448818" y="321183"/>
                  </a:lnTo>
                  <a:lnTo>
                    <a:pt x="673227" y="0"/>
                  </a:lnTo>
                  <a:lnTo>
                    <a:pt x="897636" y="321183"/>
                  </a:lnTo>
                  <a:lnTo>
                    <a:pt x="820547" y="321183"/>
                  </a:lnTo>
                  <a:lnTo>
                    <a:pt x="820547" y="1016889"/>
                  </a:lnTo>
                  <a:lnTo>
                    <a:pt x="0" y="1016889"/>
                  </a:lnTo>
                  <a:close/>
                </a:path>
              </a:pathLst>
            </a:custGeom>
            <a:solidFill>
              <a:srgbClr val="E0F0F2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70924" y="1656007"/>
            <a:ext cx="1114768" cy="788432"/>
            <a:chOff x="0" y="0"/>
            <a:chExt cx="1486357" cy="105124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86408" cy="1051306"/>
            </a:xfrm>
            <a:custGeom>
              <a:avLst/>
              <a:gdLst/>
              <a:ahLst/>
              <a:cxnLst/>
              <a:rect r="r" b="b" t="t" l="l"/>
              <a:pathLst>
                <a:path h="1051306" w="1486408">
                  <a:moveTo>
                    <a:pt x="0" y="175260"/>
                  </a:moveTo>
                  <a:cubicBezTo>
                    <a:pt x="0" y="78486"/>
                    <a:pt x="78486" y="0"/>
                    <a:pt x="175260" y="0"/>
                  </a:cubicBezTo>
                  <a:lnTo>
                    <a:pt x="1311148" y="0"/>
                  </a:lnTo>
                  <a:cubicBezTo>
                    <a:pt x="1407922" y="0"/>
                    <a:pt x="1486408" y="78486"/>
                    <a:pt x="1486408" y="175260"/>
                  </a:cubicBezTo>
                  <a:lnTo>
                    <a:pt x="1486408" y="876046"/>
                  </a:lnTo>
                  <a:cubicBezTo>
                    <a:pt x="1486408" y="972820"/>
                    <a:pt x="1407922" y="1051306"/>
                    <a:pt x="1311148" y="1051306"/>
                  </a:cubicBezTo>
                  <a:lnTo>
                    <a:pt x="175260" y="1051306"/>
                  </a:lnTo>
                  <a:cubicBezTo>
                    <a:pt x="78486" y="1051306"/>
                    <a:pt x="0" y="972820"/>
                    <a:pt x="0" y="876046"/>
                  </a:cubicBezTo>
                  <a:close/>
                </a:path>
              </a:pathLst>
            </a:custGeom>
            <a:solidFill>
              <a:srgbClr val="BBE0E3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1108100" y="1693174"/>
            <a:ext cx="1040425" cy="714089"/>
            <a:chOff x="0" y="0"/>
            <a:chExt cx="1387234" cy="95211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87236" cy="952118"/>
            </a:xfrm>
            <a:custGeom>
              <a:avLst/>
              <a:gdLst/>
              <a:ahLst/>
              <a:cxnLst/>
              <a:rect r="r" b="b" t="t" l="l"/>
              <a:pathLst>
                <a:path h="952118" w="1387236">
                  <a:moveTo>
                    <a:pt x="0" y="0"/>
                  </a:moveTo>
                  <a:lnTo>
                    <a:pt x="1387236" y="0"/>
                  </a:lnTo>
                  <a:lnTo>
                    <a:pt x="1387236" y="952118"/>
                  </a:lnTo>
                  <a:lnTo>
                    <a:pt x="0" y="9521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60" t="0" r="-3806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387234" cy="952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1"/>
                </a:lnSpc>
              </a:pPr>
              <a:r>
                <a:rPr lang="en-US" sz="106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Abstract Submission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214582" y="1727521"/>
            <a:ext cx="1585951" cy="625508"/>
            <a:chOff x="0" y="0"/>
            <a:chExt cx="2114601" cy="83401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14607" cy="834013"/>
            </a:xfrm>
            <a:custGeom>
              <a:avLst/>
              <a:gdLst/>
              <a:ahLst/>
              <a:cxnLst/>
              <a:rect r="r" b="b" t="t" l="l"/>
              <a:pathLst>
                <a:path h="834013" w="2114607">
                  <a:moveTo>
                    <a:pt x="0" y="0"/>
                  </a:moveTo>
                  <a:lnTo>
                    <a:pt x="2114607" y="0"/>
                  </a:lnTo>
                  <a:lnTo>
                    <a:pt x="2114607" y="834013"/>
                  </a:lnTo>
                  <a:lnTo>
                    <a:pt x="0" y="8340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03" t="0" r="-6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2114601" cy="834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137272" indent="-45757" lvl="2">
                <a:lnSpc>
                  <a:spcPts val="1151"/>
                </a:lnSpc>
                <a:buFont typeface="Arial"/>
                <a:buChar char="⚬"/>
              </a:pPr>
              <a:r>
                <a:rPr lang="en-US" sz="106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16th July, 2026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5400000">
            <a:off x="2332244" y="3227470"/>
            <a:ext cx="673208" cy="762676"/>
            <a:chOff x="0" y="0"/>
            <a:chExt cx="897611" cy="101690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97636" cy="1016889"/>
            </a:xfrm>
            <a:custGeom>
              <a:avLst/>
              <a:gdLst/>
              <a:ahLst/>
              <a:cxnLst/>
              <a:rect r="r" b="b" t="t" l="l"/>
              <a:pathLst>
                <a:path h="1016889" w="897636">
                  <a:moveTo>
                    <a:pt x="0" y="722122"/>
                  </a:moveTo>
                  <a:lnTo>
                    <a:pt x="525780" y="722122"/>
                  </a:lnTo>
                  <a:lnTo>
                    <a:pt x="525780" y="321183"/>
                  </a:lnTo>
                  <a:lnTo>
                    <a:pt x="448818" y="321183"/>
                  </a:lnTo>
                  <a:lnTo>
                    <a:pt x="673227" y="0"/>
                  </a:lnTo>
                  <a:lnTo>
                    <a:pt x="897636" y="321183"/>
                  </a:lnTo>
                  <a:lnTo>
                    <a:pt x="820547" y="321183"/>
                  </a:lnTo>
                  <a:lnTo>
                    <a:pt x="820547" y="1016889"/>
                  </a:lnTo>
                  <a:lnTo>
                    <a:pt x="0" y="1016889"/>
                  </a:lnTo>
                  <a:close/>
                </a:path>
              </a:pathLst>
            </a:custGeom>
            <a:solidFill>
              <a:srgbClr val="E0F0F2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2161061" y="2511238"/>
            <a:ext cx="1114768" cy="788432"/>
            <a:chOff x="0" y="0"/>
            <a:chExt cx="1486357" cy="105124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86408" cy="1051306"/>
            </a:xfrm>
            <a:custGeom>
              <a:avLst/>
              <a:gdLst/>
              <a:ahLst/>
              <a:cxnLst/>
              <a:rect r="r" b="b" t="t" l="l"/>
              <a:pathLst>
                <a:path h="1051306" w="1486408">
                  <a:moveTo>
                    <a:pt x="0" y="175260"/>
                  </a:moveTo>
                  <a:cubicBezTo>
                    <a:pt x="0" y="78486"/>
                    <a:pt x="78486" y="0"/>
                    <a:pt x="175260" y="0"/>
                  </a:cubicBezTo>
                  <a:lnTo>
                    <a:pt x="1311148" y="0"/>
                  </a:lnTo>
                  <a:cubicBezTo>
                    <a:pt x="1407922" y="0"/>
                    <a:pt x="1486408" y="78486"/>
                    <a:pt x="1486408" y="175260"/>
                  </a:cubicBezTo>
                  <a:lnTo>
                    <a:pt x="1486408" y="876046"/>
                  </a:lnTo>
                  <a:cubicBezTo>
                    <a:pt x="1486408" y="972820"/>
                    <a:pt x="1407922" y="1051306"/>
                    <a:pt x="1311148" y="1051306"/>
                  </a:cubicBezTo>
                  <a:lnTo>
                    <a:pt x="175260" y="1051306"/>
                  </a:lnTo>
                  <a:cubicBezTo>
                    <a:pt x="78486" y="1051306"/>
                    <a:pt x="0" y="972820"/>
                    <a:pt x="0" y="876046"/>
                  </a:cubicBezTo>
                  <a:close/>
                </a:path>
              </a:pathLst>
            </a:custGeom>
            <a:solidFill>
              <a:srgbClr val="BBE0E3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2198227" y="2548414"/>
            <a:ext cx="1040425" cy="714089"/>
            <a:chOff x="0" y="0"/>
            <a:chExt cx="1387234" cy="95211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87236" cy="952118"/>
            </a:xfrm>
            <a:custGeom>
              <a:avLst/>
              <a:gdLst/>
              <a:ahLst/>
              <a:cxnLst/>
              <a:rect r="r" b="b" t="t" l="l"/>
              <a:pathLst>
                <a:path h="952118" w="1387236">
                  <a:moveTo>
                    <a:pt x="0" y="0"/>
                  </a:moveTo>
                  <a:lnTo>
                    <a:pt x="1387236" y="0"/>
                  </a:lnTo>
                  <a:lnTo>
                    <a:pt x="1387236" y="952118"/>
                  </a:lnTo>
                  <a:lnTo>
                    <a:pt x="0" y="9521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60" t="0" r="-38060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387234" cy="952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1"/>
                </a:lnSpc>
              </a:pPr>
              <a:r>
                <a:rPr lang="en-US" sz="106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Literature Survey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249244" y="2582751"/>
            <a:ext cx="1947986" cy="625508"/>
            <a:chOff x="0" y="0"/>
            <a:chExt cx="2597315" cy="83401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97321" cy="834013"/>
            </a:xfrm>
            <a:custGeom>
              <a:avLst/>
              <a:gdLst/>
              <a:ahLst/>
              <a:cxnLst/>
              <a:rect r="r" b="b" t="t" l="l"/>
              <a:pathLst>
                <a:path h="834013" w="2597321">
                  <a:moveTo>
                    <a:pt x="0" y="0"/>
                  </a:moveTo>
                  <a:lnTo>
                    <a:pt x="2597321" y="0"/>
                  </a:lnTo>
                  <a:lnTo>
                    <a:pt x="2597321" y="834013"/>
                  </a:lnTo>
                  <a:lnTo>
                    <a:pt x="0" y="8340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81" r="0" b="-1068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"/>
              <a:ext cx="2597315" cy="843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144136" indent="-48045" lvl="2">
                <a:lnSpc>
                  <a:spcPts val="1209"/>
                </a:lnSpc>
                <a:buFont typeface="Arial"/>
                <a:buChar char="⚬"/>
              </a:pPr>
              <a:r>
                <a:rPr lang="en-US" sz="1119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12th August, 2026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5400000">
            <a:off x="3422380" y="4082710"/>
            <a:ext cx="673208" cy="762676"/>
            <a:chOff x="0" y="0"/>
            <a:chExt cx="897611" cy="101690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97636" cy="1016889"/>
            </a:xfrm>
            <a:custGeom>
              <a:avLst/>
              <a:gdLst/>
              <a:ahLst/>
              <a:cxnLst/>
              <a:rect r="r" b="b" t="t" l="l"/>
              <a:pathLst>
                <a:path h="1016889" w="897636">
                  <a:moveTo>
                    <a:pt x="0" y="722122"/>
                  </a:moveTo>
                  <a:lnTo>
                    <a:pt x="525780" y="722122"/>
                  </a:lnTo>
                  <a:lnTo>
                    <a:pt x="525780" y="321183"/>
                  </a:lnTo>
                  <a:lnTo>
                    <a:pt x="448818" y="321183"/>
                  </a:lnTo>
                  <a:lnTo>
                    <a:pt x="673227" y="0"/>
                  </a:lnTo>
                  <a:lnTo>
                    <a:pt x="897636" y="321183"/>
                  </a:lnTo>
                  <a:lnTo>
                    <a:pt x="820547" y="321183"/>
                  </a:lnTo>
                  <a:lnTo>
                    <a:pt x="820547" y="1016889"/>
                  </a:lnTo>
                  <a:lnTo>
                    <a:pt x="0" y="1016889"/>
                  </a:lnTo>
                  <a:close/>
                </a:path>
              </a:pathLst>
            </a:custGeom>
            <a:solidFill>
              <a:srgbClr val="E0F0F2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3251197" y="3366478"/>
            <a:ext cx="1114768" cy="788432"/>
            <a:chOff x="0" y="0"/>
            <a:chExt cx="1486357" cy="105124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486408" cy="1051306"/>
            </a:xfrm>
            <a:custGeom>
              <a:avLst/>
              <a:gdLst/>
              <a:ahLst/>
              <a:cxnLst/>
              <a:rect r="r" b="b" t="t" l="l"/>
              <a:pathLst>
                <a:path h="1051306" w="1486408">
                  <a:moveTo>
                    <a:pt x="0" y="175260"/>
                  </a:moveTo>
                  <a:cubicBezTo>
                    <a:pt x="0" y="78486"/>
                    <a:pt x="78486" y="0"/>
                    <a:pt x="175260" y="0"/>
                  </a:cubicBezTo>
                  <a:lnTo>
                    <a:pt x="1311148" y="0"/>
                  </a:lnTo>
                  <a:cubicBezTo>
                    <a:pt x="1407922" y="0"/>
                    <a:pt x="1486408" y="78486"/>
                    <a:pt x="1486408" y="175260"/>
                  </a:cubicBezTo>
                  <a:lnTo>
                    <a:pt x="1486408" y="876046"/>
                  </a:lnTo>
                  <a:cubicBezTo>
                    <a:pt x="1486408" y="972820"/>
                    <a:pt x="1407922" y="1051306"/>
                    <a:pt x="1311148" y="1051306"/>
                  </a:cubicBezTo>
                  <a:lnTo>
                    <a:pt x="175260" y="1051306"/>
                  </a:lnTo>
                  <a:cubicBezTo>
                    <a:pt x="78486" y="1051306"/>
                    <a:pt x="0" y="972820"/>
                    <a:pt x="0" y="876046"/>
                  </a:cubicBezTo>
                  <a:close/>
                </a:path>
              </a:pathLst>
            </a:custGeom>
            <a:solidFill>
              <a:srgbClr val="BBE0E3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3288363" y="3403644"/>
            <a:ext cx="1040425" cy="714089"/>
            <a:chOff x="0" y="0"/>
            <a:chExt cx="1387234" cy="95211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87236" cy="952118"/>
            </a:xfrm>
            <a:custGeom>
              <a:avLst/>
              <a:gdLst/>
              <a:ahLst/>
              <a:cxnLst/>
              <a:rect r="r" b="b" t="t" l="l"/>
              <a:pathLst>
                <a:path h="952118" w="1387236">
                  <a:moveTo>
                    <a:pt x="0" y="0"/>
                  </a:moveTo>
                  <a:lnTo>
                    <a:pt x="1387236" y="0"/>
                  </a:lnTo>
                  <a:lnTo>
                    <a:pt x="1387236" y="952118"/>
                  </a:lnTo>
                  <a:lnTo>
                    <a:pt x="0" y="9521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60" t="0" r="-3806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1387234" cy="952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1"/>
                </a:lnSpc>
              </a:pPr>
              <a:r>
                <a:rPr lang="en-US" sz="106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Design [Front End, Back End]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343352" y="3447555"/>
            <a:ext cx="1777127" cy="625508"/>
            <a:chOff x="0" y="0"/>
            <a:chExt cx="2369502" cy="83401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369502" cy="834013"/>
            </a:xfrm>
            <a:custGeom>
              <a:avLst/>
              <a:gdLst/>
              <a:ahLst/>
              <a:cxnLst/>
              <a:rect r="r" b="b" t="t" l="l"/>
              <a:pathLst>
                <a:path h="834013" w="2369502">
                  <a:moveTo>
                    <a:pt x="0" y="0"/>
                  </a:moveTo>
                  <a:lnTo>
                    <a:pt x="2369502" y="0"/>
                  </a:lnTo>
                  <a:lnTo>
                    <a:pt x="2369502" y="834013"/>
                  </a:lnTo>
                  <a:lnTo>
                    <a:pt x="0" y="8340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58" r="0" b="-5358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369502" cy="834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150999" indent="-50333" lvl="2">
                <a:lnSpc>
                  <a:spcPts val="1267"/>
                </a:lnSpc>
                <a:buFont typeface="Arial"/>
                <a:buChar char="⚬"/>
              </a:pPr>
              <a:r>
                <a:rPr lang="en-US" sz="117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20th September, 2026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5400000">
            <a:off x="4512507" y="4937941"/>
            <a:ext cx="673208" cy="762676"/>
            <a:chOff x="0" y="0"/>
            <a:chExt cx="897611" cy="101690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97636" cy="1016889"/>
            </a:xfrm>
            <a:custGeom>
              <a:avLst/>
              <a:gdLst/>
              <a:ahLst/>
              <a:cxnLst/>
              <a:rect r="r" b="b" t="t" l="l"/>
              <a:pathLst>
                <a:path h="1016889" w="897636">
                  <a:moveTo>
                    <a:pt x="0" y="722122"/>
                  </a:moveTo>
                  <a:lnTo>
                    <a:pt x="525780" y="722122"/>
                  </a:lnTo>
                  <a:lnTo>
                    <a:pt x="525780" y="321183"/>
                  </a:lnTo>
                  <a:lnTo>
                    <a:pt x="448818" y="321183"/>
                  </a:lnTo>
                  <a:lnTo>
                    <a:pt x="673227" y="0"/>
                  </a:lnTo>
                  <a:lnTo>
                    <a:pt x="897636" y="321183"/>
                  </a:lnTo>
                  <a:lnTo>
                    <a:pt x="820547" y="321183"/>
                  </a:lnTo>
                  <a:lnTo>
                    <a:pt x="820547" y="1016889"/>
                  </a:lnTo>
                  <a:lnTo>
                    <a:pt x="0" y="1016889"/>
                  </a:lnTo>
                  <a:close/>
                </a:path>
              </a:pathLst>
            </a:custGeom>
            <a:solidFill>
              <a:srgbClr val="E0F0F2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4341324" y="4221709"/>
            <a:ext cx="1114768" cy="788432"/>
            <a:chOff x="0" y="0"/>
            <a:chExt cx="1486357" cy="105124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86408" cy="1051306"/>
            </a:xfrm>
            <a:custGeom>
              <a:avLst/>
              <a:gdLst/>
              <a:ahLst/>
              <a:cxnLst/>
              <a:rect r="r" b="b" t="t" l="l"/>
              <a:pathLst>
                <a:path h="1051306" w="1486408">
                  <a:moveTo>
                    <a:pt x="0" y="175260"/>
                  </a:moveTo>
                  <a:cubicBezTo>
                    <a:pt x="0" y="78486"/>
                    <a:pt x="78486" y="0"/>
                    <a:pt x="175260" y="0"/>
                  </a:cubicBezTo>
                  <a:lnTo>
                    <a:pt x="1311148" y="0"/>
                  </a:lnTo>
                  <a:cubicBezTo>
                    <a:pt x="1407922" y="0"/>
                    <a:pt x="1486408" y="78486"/>
                    <a:pt x="1486408" y="175260"/>
                  </a:cubicBezTo>
                  <a:lnTo>
                    <a:pt x="1486408" y="876046"/>
                  </a:lnTo>
                  <a:cubicBezTo>
                    <a:pt x="1486408" y="972820"/>
                    <a:pt x="1407922" y="1051306"/>
                    <a:pt x="1311148" y="1051306"/>
                  </a:cubicBezTo>
                  <a:lnTo>
                    <a:pt x="175260" y="1051306"/>
                  </a:lnTo>
                  <a:cubicBezTo>
                    <a:pt x="78486" y="1051306"/>
                    <a:pt x="0" y="972820"/>
                    <a:pt x="0" y="876046"/>
                  </a:cubicBezTo>
                  <a:close/>
                </a:path>
              </a:pathLst>
            </a:custGeom>
            <a:solidFill>
              <a:srgbClr val="BBE0E3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4378500" y="4258885"/>
            <a:ext cx="1040425" cy="714089"/>
            <a:chOff x="0" y="0"/>
            <a:chExt cx="1387234" cy="95211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87236" cy="952118"/>
            </a:xfrm>
            <a:custGeom>
              <a:avLst/>
              <a:gdLst/>
              <a:ahLst/>
              <a:cxnLst/>
              <a:rect r="r" b="b" t="t" l="l"/>
              <a:pathLst>
                <a:path h="952118" w="1387236">
                  <a:moveTo>
                    <a:pt x="0" y="0"/>
                  </a:moveTo>
                  <a:lnTo>
                    <a:pt x="1387236" y="0"/>
                  </a:lnTo>
                  <a:lnTo>
                    <a:pt x="1387236" y="952118"/>
                  </a:lnTo>
                  <a:lnTo>
                    <a:pt x="0" y="9521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60" t="0" r="-38060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387234" cy="952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1"/>
                </a:lnSpc>
              </a:pPr>
              <a:r>
                <a:rPr lang="en-US" sz="106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Implementation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503593" y="4302785"/>
            <a:ext cx="1726263" cy="625508"/>
            <a:chOff x="0" y="0"/>
            <a:chExt cx="2301684" cy="83401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301690" cy="834013"/>
            </a:xfrm>
            <a:custGeom>
              <a:avLst/>
              <a:gdLst/>
              <a:ahLst/>
              <a:cxnLst/>
              <a:rect r="r" b="b" t="t" l="l"/>
              <a:pathLst>
                <a:path h="834013" w="2301690">
                  <a:moveTo>
                    <a:pt x="0" y="0"/>
                  </a:moveTo>
                  <a:lnTo>
                    <a:pt x="2301690" y="0"/>
                  </a:lnTo>
                  <a:lnTo>
                    <a:pt x="2301690" y="834013"/>
                  </a:lnTo>
                  <a:lnTo>
                    <a:pt x="0" y="8340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74" r="0" b="-377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2301684" cy="834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150999" indent="-50333" lvl="2">
                <a:lnSpc>
                  <a:spcPts val="1267"/>
                </a:lnSpc>
                <a:buFont typeface="Arial"/>
                <a:buChar char="⚬"/>
              </a:pPr>
              <a:r>
                <a:rPr lang="en-US" sz="117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5th October, 2026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5400000">
            <a:off x="5602643" y="5793181"/>
            <a:ext cx="673208" cy="762676"/>
            <a:chOff x="0" y="0"/>
            <a:chExt cx="897611" cy="101690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97636" cy="1016889"/>
            </a:xfrm>
            <a:custGeom>
              <a:avLst/>
              <a:gdLst/>
              <a:ahLst/>
              <a:cxnLst/>
              <a:rect r="r" b="b" t="t" l="l"/>
              <a:pathLst>
                <a:path h="1016889" w="897636">
                  <a:moveTo>
                    <a:pt x="0" y="722122"/>
                  </a:moveTo>
                  <a:lnTo>
                    <a:pt x="525780" y="722122"/>
                  </a:lnTo>
                  <a:lnTo>
                    <a:pt x="525780" y="321183"/>
                  </a:lnTo>
                  <a:lnTo>
                    <a:pt x="448818" y="321183"/>
                  </a:lnTo>
                  <a:lnTo>
                    <a:pt x="673227" y="0"/>
                  </a:lnTo>
                  <a:lnTo>
                    <a:pt x="897636" y="321183"/>
                  </a:lnTo>
                  <a:lnTo>
                    <a:pt x="820547" y="321183"/>
                  </a:lnTo>
                  <a:lnTo>
                    <a:pt x="820547" y="1016889"/>
                  </a:lnTo>
                  <a:lnTo>
                    <a:pt x="0" y="1016889"/>
                  </a:lnTo>
                  <a:close/>
                </a:path>
              </a:pathLst>
            </a:custGeom>
            <a:solidFill>
              <a:srgbClr val="E0F0F2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5431460" y="5076949"/>
            <a:ext cx="1114768" cy="788432"/>
            <a:chOff x="0" y="0"/>
            <a:chExt cx="1486357" cy="105124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486408" cy="1051306"/>
            </a:xfrm>
            <a:custGeom>
              <a:avLst/>
              <a:gdLst/>
              <a:ahLst/>
              <a:cxnLst/>
              <a:rect r="r" b="b" t="t" l="l"/>
              <a:pathLst>
                <a:path h="1051306" w="1486408">
                  <a:moveTo>
                    <a:pt x="0" y="175260"/>
                  </a:moveTo>
                  <a:cubicBezTo>
                    <a:pt x="0" y="78486"/>
                    <a:pt x="78486" y="0"/>
                    <a:pt x="175260" y="0"/>
                  </a:cubicBezTo>
                  <a:lnTo>
                    <a:pt x="1311148" y="0"/>
                  </a:lnTo>
                  <a:cubicBezTo>
                    <a:pt x="1407922" y="0"/>
                    <a:pt x="1486408" y="78486"/>
                    <a:pt x="1486408" y="175260"/>
                  </a:cubicBezTo>
                  <a:lnTo>
                    <a:pt x="1486408" y="876046"/>
                  </a:lnTo>
                  <a:cubicBezTo>
                    <a:pt x="1486408" y="972820"/>
                    <a:pt x="1407922" y="1051306"/>
                    <a:pt x="1311148" y="1051306"/>
                  </a:cubicBezTo>
                  <a:lnTo>
                    <a:pt x="175260" y="1051306"/>
                  </a:lnTo>
                  <a:cubicBezTo>
                    <a:pt x="78486" y="1051306"/>
                    <a:pt x="0" y="972820"/>
                    <a:pt x="0" y="876046"/>
                  </a:cubicBezTo>
                  <a:close/>
                </a:path>
              </a:pathLst>
            </a:custGeom>
            <a:solidFill>
              <a:srgbClr val="BBE0E3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5468636" y="5114125"/>
            <a:ext cx="1040425" cy="714089"/>
            <a:chOff x="0" y="0"/>
            <a:chExt cx="1387234" cy="95211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87236" cy="952118"/>
            </a:xfrm>
            <a:custGeom>
              <a:avLst/>
              <a:gdLst/>
              <a:ahLst/>
              <a:cxnLst/>
              <a:rect r="r" b="b" t="t" l="l"/>
              <a:pathLst>
                <a:path h="952118" w="1387236">
                  <a:moveTo>
                    <a:pt x="0" y="0"/>
                  </a:moveTo>
                  <a:lnTo>
                    <a:pt x="1387236" y="0"/>
                  </a:lnTo>
                  <a:lnTo>
                    <a:pt x="1387236" y="952118"/>
                  </a:lnTo>
                  <a:lnTo>
                    <a:pt x="0" y="9521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60" t="0" r="-38060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1387234" cy="952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1"/>
                </a:lnSpc>
              </a:pPr>
              <a:r>
                <a:rPr lang="en-US" sz="106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Testing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522349" y="5158026"/>
            <a:ext cx="1675419" cy="625508"/>
            <a:chOff x="0" y="0"/>
            <a:chExt cx="2233892" cy="83401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233890" cy="834013"/>
            </a:xfrm>
            <a:custGeom>
              <a:avLst/>
              <a:gdLst/>
              <a:ahLst/>
              <a:cxnLst/>
              <a:rect r="r" b="b" t="t" l="l"/>
              <a:pathLst>
                <a:path h="834013" w="2233890">
                  <a:moveTo>
                    <a:pt x="0" y="0"/>
                  </a:moveTo>
                  <a:lnTo>
                    <a:pt x="2233890" y="0"/>
                  </a:lnTo>
                  <a:lnTo>
                    <a:pt x="2233890" y="834013"/>
                  </a:lnTo>
                  <a:lnTo>
                    <a:pt x="0" y="8340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0" r="0" b="-219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2233892" cy="834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137272" indent="-45757" lvl="2">
                <a:lnSpc>
                  <a:spcPts val="1151"/>
                </a:lnSpc>
                <a:buFont typeface="Arial"/>
                <a:buChar char="⚬"/>
              </a:pPr>
              <a:r>
                <a:rPr lang="en-US" sz="106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30th October, 2026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521596" y="5932189"/>
            <a:ext cx="1114768" cy="788432"/>
            <a:chOff x="0" y="0"/>
            <a:chExt cx="1486357" cy="105124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486408" cy="1051306"/>
            </a:xfrm>
            <a:custGeom>
              <a:avLst/>
              <a:gdLst/>
              <a:ahLst/>
              <a:cxnLst/>
              <a:rect r="r" b="b" t="t" l="l"/>
              <a:pathLst>
                <a:path h="1051306" w="1486408">
                  <a:moveTo>
                    <a:pt x="0" y="175260"/>
                  </a:moveTo>
                  <a:cubicBezTo>
                    <a:pt x="0" y="78486"/>
                    <a:pt x="78486" y="0"/>
                    <a:pt x="175260" y="0"/>
                  </a:cubicBezTo>
                  <a:lnTo>
                    <a:pt x="1311148" y="0"/>
                  </a:lnTo>
                  <a:cubicBezTo>
                    <a:pt x="1407922" y="0"/>
                    <a:pt x="1486408" y="78486"/>
                    <a:pt x="1486408" y="175260"/>
                  </a:cubicBezTo>
                  <a:lnTo>
                    <a:pt x="1486408" y="876046"/>
                  </a:lnTo>
                  <a:cubicBezTo>
                    <a:pt x="1486408" y="972820"/>
                    <a:pt x="1407922" y="1051306"/>
                    <a:pt x="1311148" y="1051306"/>
                  </a:cubicBezTo>
                  <a:lnTo>
                    <a:pt x="175260" y="1051306"/>
                  </a:lnTo>
                  <a:cubicBezTo>
                    <a:pt x="78486" y="1051306"/>
                    <a:pt x="0" y="972820"/>
                    <a:pt x="0" y="876046"/>
                  </a:cubicBezTo>
                  <a:close/>
                </a:path>
              </a:pathLst>
            </a:custGeom>
            <a:solidFill>
              <a:srgbClr val="BBE0E3"/>
            </a:solidFill>
            <a:ln w="27093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6558772" y="5969356"/>
            <a:ext cx="1040425" cy="714089"/>
            <a:chOff x="0" y="0"/>
            <a:chExt cx="1387234" cy="95211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387236" cy="952118"/>
            </a:xfrm>
            <a:custGeom>
              <a:avLst/>
              <a:gdLst/>
              <a:ahLst/>
              <a:cxnLst/>
              <a:rect r="r" b="b" t="t" l="l"/>
              <a:pathLst>
                <a:path h="952118" w="1387236">
                  <a:moveTo>
                    <a:pt x="0" y="0"/>
                  </a:moveTo>
                  <a:lnTo>
                    <a:pt x="1387236" y="0"/>
                  </a:lnTo>
                  <a:lnTo>
                    <a:pt x="1387236" y="952118"/>
                  </a:lnTo>
                  <a:lnTo>
                    <a:pt x="0" y="9521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060" t="0" r="-38060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1387234" cy="952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151"/>
                </a:lnSpc>
              </a:pPr>
              <a:r>
                <a:rPr lang="en-US" sz="106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Document Submission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623029" y="6020705"/>
            <a:ext cx="1400594" cy="625508"/>
            <a:chOff x="0" y="0"/>
            <a:chExt cx="1867459" cy="83401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867460" cy="834013"/>
            </a:xfrm>
            <a:custGeom>
              <a:avLst/>
              <a:gdLst/>
              <a:ahLst/>
              <a:cxnLst/>
              <a:rect r="r" b="b" t="t" l="l"/>
              <a:pathLst>
                <a:path h="834013" w="1867460">
                  <a:moveTo>
                    <a:pt x="0" y="0"/>
                  </a:moveTo>
                  <a:lnTo>
                    <a:pt x="1867460" y="0"/>
                  </a:lnTo>
                  <a:lnTo>
                    <a:pt x="1867460" y="834013"/>
                  </a:lnTo>
                  <a:lnTo>
                    <a:pt x="0" y="8340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253" t="0" r="652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1867459" cy="8340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137272" indent="-45757" lvl="2">
                <a:lnSpc>
                  <a:spcPts val="1151"/>
                </a:lnSpc>
                <a:buFont typeface="Arial"/>
                <a:buChar char="⚬"/>
              </a:pPr>
              <a:r>
                <a:rPr lang="en-US" sz="1066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15th November, 2026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8934657" y="435826"/>
            <a:ext cx="2110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163" y="1203960"/>
            <a:ext cx="9052560" cy="5557523"/>
            <a:chOff x="0" y="0"/>
            <a:chExt cx="12070080" cy="7410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7410069"/>
            </a:xfrm>
            <a:custGeom>
              <a:avLst/>
              <a:gdLst/>
              <a:ahLst/>
              <a:cxnLst/>
              <a:rect r="r" b="b" t="t" l="l"/>
              <a:pathLst>
                <a:path h="7410069" w="12070080">
                  <a:moveTo>
                    <a:pt x="0" y="1235075"/>
                  </a:moveTo>
                  <a:cubicBezTo>
                    <a:pt x="0" y="552958"/>
                    <a:pt x="552958" y="0"/>
                    <a:pt x="1235075" y="0"/>
                  </a:cubicBezTo>
                  <a:lnTo>
                    <a:pt x="10835005" y="0"/>
                  </a:lnTo>
                  <a:cubicBezTo>
                    <a:pt x="11517123" y="0"/>
                    <a:pt x="12070080" y="552958"/>
                    <a:pt x="12070080" y="1235075"/>
                  </a:cubicBezTo>
                  <a:lnTo>
                    <a:pt x="12070080" y="6174994"/>
                  </a:lnTo>
                  <a:cubicBezTo>
                    <a:pt x="12070080" y="6857111"/>
                    <a:pt x="11517123" y="7410069"/>
                    <a:pt x="10835005" y="7410069"/>
                  </a:cubicBezTo>
                  <a:lnTo>
                    <a:pt x="1235075" y="7410069"/>
                  </a:lnTo>
                  <a:cubicBezTo>
                    <a:pt x="552958" y="7410069"/>
                    <a:pt x="0" y="6857111"/>
                    <a:pt x="0" y="6174994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6699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21551" y="140218"/>
            <a:ext cx="8791785" cy="1085764"/>
            <a:chOff x="0" y="0"/>
            <a:chExt cx="11722379" cy="144768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22382" cy="1447689"/>
            </a:xfrm>
            <a:custGeom>
              <a:avLst/>
              <a:gdLst/>
              <a:ahLst/>
              <a:cxnLst/>
              <a:rect r="r" b="b" t="t" l="l"/>
              <a:pathLst>
                <a:path h="1447689" w="11722382">
                  <a:moveTo>
                    <a:pt x="0" y="0"/>
                  </a:moveTo>
                  <a:lnTo>
                    <a:pt x="11722382" y="0"/>
                  </a:lnTo>
                  <a:lnTo>
                    <a:pt x="11722382" y="1447689"/>
                  </a:lnTo>
                  <a:lnTo>
                    <a:pt x="0" y="14476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776" r="0" b="-10777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1722379" cy="146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934657" y="435826"/>
            <a:ext cx="2110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3674" y="1411964"/>
            <a:ext cx="8086251" cy="4961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6"/>
              </a:lnSpc>
            </a:pPr>
            <a:r>
              <a:rPr lang="en-US" sz="1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Gaps Identified</a:t>
            </a:r>
          </a:p>
          <a:p>
            <a:pPr algn="l" marL="334118" indent="-167059" lvl="1">
              <a:lnSpc>
                <a:spcPts val="2166"/>
              </a:lnSpc>
              <a:buFont typeface="Arial"/>
              <a:buChar char="•"/>
            </a:pPr>
            <a:r>
              <a:rPr lang="en-US" sz="1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a complete end-to-end multi-agent log analysis workflow integrating preprocessing, anomaly detection, RCA, and insights.</a:t>
            </a:r>
          </a:p>
          <a:p>
            <a:pPr algn="l" marL="334118" indent="-167059" lvl="1">
              <a:lnSpc>
                <a:spcPts val="2166"/>
              </a:lnSpc>
              <a:buFont typeface="Arial"/>
              <a:buChar char="•"/>
            </a:pPr>
            <a:r>
              <a:rPr lang="en-US" sz="1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dynamic orchestration of specialized agents and existing ML models across heterogeneous log families.</a:t>
            </a:r>
          </a:p>
          <a:p>
            <a:pPr algn="l" marL="334118" indent="-167059" lvl="1">
              <a:lnSpc>
                <a:spcPts val="2166"/>
              </a:lnSpc>
              <a:buFont typeface="Arial"/>
              <a:buChar char="•"/>
            </a:pPr>
            <a:r>
              <a:rPr lang="en-US" sz="1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explainability and actionable insights, with weak integration between anomaly detection, RCA, and SLM-based reasoning.</a:t>
            </a:r>
          </a:p>
          <a:p>
            <a:pPr algn="l" marL="334118" indent="-167059" lvl="1">
              <a:lnSpc>
                <a:spcPts val="2166"/>
              </a:lnSpc>
              <a:buFont typeface="Arial"/>
              <a:buChar char="•"/>
            </a:pPr>
            <a:r>
              <a:rPr lang="en-US" sz="1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support for heterogeneous and real-time logs, particularly Kubernetes-based environments.</a:t>
            </a:r>
          </a:p>
          <a:p>
            <a:pPr algn="l">
              <a:lnSpc>
                <a:spcPts val="2166"/>
              </a:lnSpc>
            </a:pPr>
          </a:p>
          <a:p>
            <a:pPr algn="l">
              <a:lnSpc>
                <a:spcPts val="2166"/>
              </a:lnSpc>
            </a:pPr>
            <a:r>
              <a:rPr lang="en-US" sz="1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Deliverables</a:t>
            </a:r>
          </a:p>
          <a:p>
            <a:pPr algn="l" marL="334118" indent="-167059" lvl="1">
              <a:lnSpc>
                <a:spcPts val="2166"/>
              </a:lnSpc>
              <a:buFont typeface="Arial"/>
              <a:buChar char="•"/>
            </a:pPr>
            <a:r>
              <a:rPr lang="en-US" sz="1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Multi-Agent Log Analysis Framework with specialized agents for log identification, preprocessing, anomaly detection, RCA, and insights.</a:t>
            </a:r>
          </a:p>
          <a:p>
            <a:pPr algn="l" marL="334118" indent="-167059" lvl="1">
              <a:lnSpc>
                <a:spcPts val="2166"/>
              </a:lnSpc>
              <a:buFont typeface="Arial"/>
              <a:buChar char="•"/>
            </a:pPr>
            <a:r>
              <a:rPr lang="en-US" sz="1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of the existing ML pipeline — Transformer + Embeddings/FAISS + RAG + Random Forest — for anomaly detection.</a:t>
            </a:r>
          </a:p>
          <a:p>
            <a:pPr algn="l" marL="334118" indent="-167059" lvl="1">
              <a:lnSpc>
                <a:spcPts val="2166"/>
              </a:lnSpc>
              <a:buFont typeface="Arial"/>
              <a:buChar char="•"/>
            </a:pPr>
            <a:r>
              <a:rPr lang="en-US" sz="1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SLM-Based Insight Generation providing anomaly explanations, impact analysis, recommendations, and next-best actions.</a:t>
            </a:r>
          </a:p>
          <a:p>
            <a:pPr algn="l" marL="334118" indent="-167059" lvl="1">
              <a:lnSpc>
                <a:spcPts val="2166"/>
              </a:lnSpc>
              <a:buFont typeface="Arial"/>
              <a:buChar char="•"/>
            </a:pPr>
            <a:r>
              <a:rPr lang="en-US" sz="154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Coordinator Agent for dynamic workflow orchestration, communication, and context sharing.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163" y="1203960"/>
            <a:ext cx="9052560" cy="5557523"/>
            <a:chOff x="0" y="0"/>
            <a:chExt cx="12070080" cy="7410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7410069"/>
            </a:xfrm>
            <a:custGeom>
              <a:avLst/>
              <a:gdLst/>
              <a:ahLst/>
              <a:cxnLst/>
              <a:rect r="r" b="b" t="t" l="l"/>
              <a:pathLst>
                <a:path h="7410069" w="12070080">
                  <a:moveTo>
                    <a:pt x="0" y="1235075"/>
                  </a:moveTo>
                  <a:cubicBezTo>
                    <a:pt x="0" y="552958"/>
                    <a:pt x="552958" y="0"/>
                    <a:pt x="1235075" y="0"/>
                  </a:cubicBezTo>
                  <a:lnTo>
                    <a:pt x="10835005" y="0"/>
                  </a:lnTo>
                  <a:cubicBezTo>
                    <a:pt x="11517123" y="0"/>
                    <a:pt x="12070080" y="552958"/>
                    <a:pt x="12070080" y="1235075"/>
                  </a:cubicBezTo>
                  <a:lnTo>
                    <a:pt x="12070080" y="6174994"/>
                  </a:lnTo>
                  <a:cubicBezTo>
                    <a:pt x="12070080" y="6857111"/>
                    <a:pt x="11517123" y="7410069"/>
                    <a:pt x="10835005" y="7410069"/>
                  </a:cubicBezTo>
                  <a:lnTo>
                    <a:pt x="1235075" y="7410069"/>
                  </a:lnTo>
                  <a:cubicBezTo>
                    <a:pt x="552958" y="7410069"/>
                    <a:pt x="0" y="6857111"/>
                    <a:pt x="0" y="6174994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6699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3071" y="122715"/>
            <a:ext cx="7328745" cy="875452"/>
            <a:chOff x="0" y="0"/>
            <a:chExt cx="9771659" cy="116727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71662" cy="1167272"/>
            </a:xfrm>
            <a:custGeom>
              <a:avLst/>
              <a:gdLst/>
              <a:ahLst/>
              <a:cxnLst/>
              <a:rect r="r" b="b" t="t" l="l"/>
              <a:pathLst>
                <a:path h="1167272" w="9771662">
                  <a:moveTo>
                    <a:pt x="0" y="0"/>
                  </a:moveTo>
                  <a:lnTo>
                    <a:pt x="9771662" y="0"/>
                  </a:lnTo>
                  <a:lnTo>
                    <a:pt x="9771662" y="1167272"/>
                  </a:lnTo>
                  <a:lnTo>
                    <a:pt x="0" y="1167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16" r="0" b="-11311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9771659" cy="1186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43671" y="1453834"/>
            <a:ext cx="8547544" cy="504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88"/>
              </a:lnSpc>
            </a:pP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Belay MA, Haghipour A, Rasheed A, Salvo Rossi P. Agentic and LLM-Based Multimodal Anomaly Detection: Architectures, Challenges, and Prospects. Sensors (Basel). 2026 Apr 9;26(8):2330. doi: 10.3390/s26082330. PMID: 42076439; PMCID: PMC13119914.</a:t>
            </a:r>
          </a:p>
          <a:p>
            <a:pPr algn="just">
              <a:lnSpc>
                <a:spcPts val="1788"/>
              </a:lnSpc>
            </a:pP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Lior Waknin, Yarin Yerushalmi Levi, Ron Solomon, Jaidip Kotak, Amit Giloni, Chiara Picardi, Roman Vainshtein, Yuval Elovici, and Asaf Shabtai. 2026. MAStitch: Unifying Local and Global Perspectives for Anomaly Detection in Multi-Agent Systems. In Proceedings of the 25th International Conference on Autonomous Agents and Multiagent Systems (AAMAS '26). International Foundation for Autonomous Agents and Multiagent Systems, Richland, SC, 1874–1882. https://doi.org/10.65109/BMJZ4532</a:t>
            </a:r>
          </a:p>
          <a:p>
            <a:pPr algn="just">
              <a:lnSpc>
                <a:spcPts val="1788"/>
              </a:lnSpc>
            </a:pP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Tlili, S., Rahal, M. &amp; Alghamdi, M. DAIMS: a distributed multi-agent framework for explainable anomaly detection in web services using machine learning and semantic reasoning. </a:t>
            </a:r>
            <a:r>
              <a:rPr lang="en-US" sz="149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World Wide Web</a:t>
            </a: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9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29</a:t>
            </a: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37 (2026). https://doi.org/10.1007/s11280-026-01425-8</a:t>
            </a:r>
          </a:p>
          <a:p>
            <a:pPr algn="just">
              <a:lnSpc>
                <a:spcPts val="1788"/>
              </a:lnSpc>
            </a:pP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Anand, Lawal G. "Large Language Models and Agentic AI in Cloud Reliability and Incident Management: A Systematic Literature Review." (2026).</a:t>
            </a:r>
          </a:p>
          <a:p>
            <a:pPr algn="just">
              <a:lnSpc>
                <a:spcPts val="1788"/>
              </a:lnSpc>
            </a:pP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Mudgal, Priyanka. "From Deep Learning to Agentic AI: A Survey of Log Data Analysis."</a:t>
            </a:r>
          </a:p>
          <a:p>
            <a:pPr algn="just">
              <a:lnSpc>
                <a:spcPts val="1788"/>
              </a:lnSpc>
            </a:pP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Comuzzi, Marco, Suryeon Ra, Dariga Narmanova, Sangwoo Cho, Yeongik Hong, and Selim Jung. "Towards Agentic AI for Event Log Data Quality Assessment." In International Conference on Advanced Information Systems Engineering, pp. 405-422. Springer, Cham, 2026.</a:t>
            </a:r>
          </a:p>
          <a:p>
            <a:pPr algn="just">
              <a:lnSpc>
                <a:spcPts val="1788"/>
              </a:lnSpc>
            </a:pP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Lee, Juyoung, Yeonsu Jeong, Taehyun Han, and Taejin Lee. 2025. "LogRESP-Agent: A Recursive AI Framework for Context-Aware Log Anomaly Detection and TTP Analysis" </a:t>
            </a:r>
            <a:r>
              <a:rPr lang="en-US" sz="149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Applied Sciences</a:t>
            </a: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15, no. 13: 7237. https://doi.org/10.3390/app15137237</a:t>
            </a:r>
          </a:p>
          <a:p>
            <a:pPr algn="just">
              <a:lnSpc>
                <a:spcPts val="1788"/>
              </a:lnSpc>
            </a:pP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Fu, F., Ding, H., Qin, Y. </a:t>
            </a:r>
            <a:r>
              <a:rPr lang="en-US" sz="149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et al.</a:t>
            </a: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Leveraging multi-agent framework for root cause analysis. </a:t>
            </a:r>
            <a:r>
              <a:rPr lang="en-US" sz="149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Complex Intell. Syst.</a:t>
            </a: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49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12</a:t>
            </a: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4 (2026). https://doi.org/10.1007/s40747-025-02096-0</a:t>
            </a:r>
          </a:p>
          <a:p>
            <a:pPr algn="just">
              <a:lnSpc>
                <a:spcPts val="1788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8934657" y="435826"/>
            <a:ext cx="2110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163" y="1203960"/>
            <a:ext cx="9052560" cy="5557523"/>
            <a:chOff x="0" y="0"/>
            <a:chExt cx="12070080" cy="7410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7410069"/>
            </a:xfrm>
            <a:custGeom>
              <a:avLst/>
              <a:gdLst/>
              <a:ahLst/>
              <a:cxnLst/>
              <a:rect r="r" b="b" t="t" l="l"/>
              <a:pathLst>
                <a:path h="7410069" w="12070080">
                  <a:moveTo>
                    <a:pt x="0" y="1235075"/>
                  </a:moveTo>
                  <a:cubicBezTo>
                    <a:pt x="0" y="552958"/>
                    <a:pt x="552958" y="0"/>
                    <a:pt x="1235075" y="0"/>
                  </a:cubicBezTo>
                  <a:lnTo>
                    <a:pt x="10835005" y="0"/>
                  </a:lnTo>
                  <a:cubicBezTo>
                    <a:pt x="11517123" y="0"/>
                    <a:pt x="12070080" y="552958"/>
                    <a:pt x="12070080" y="1235075"/>
                  </a:cubicBezTo>
                  <a:lnTo>
                    <a:pt x="12070080" y="6174994"/>
                  </a:lnTo>
                  <a:cubicBezTo>
                    <a:pt x="12070080" y="6857111"/>
                    <a:pt x="11517123" y="7410069"/>
                    <a:pt x="10835005" y="7410069"/>
                  </a:cubicBezTo>
                  <a:lnTo>
                    <a:pt x="1235075" y="7410069"/>
                  </a:lnTo>
                  <a:cubicBezTo>
                    <a:pt x="552958" y="7410069"/>
                    <a:pt x="0" y="6857111"/>
                    <a:pt x="0" y="6174994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6699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934657" y="435826"/>
            <a:ext cx="2110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212428" y="122715"/>
            <a:ext cx="7328745" cy="875452"/>
            <a:chOff x="0" y="0"/>
            <a:chExt cx="9771659" cy="11672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771662" cy="1167272"/>
            </a:xfrm>
            <a:custGeom>
              <a:avLst/>
              <a:gdLst/>
              <a:ahLst/>
              <a:cxnLst/>
              <a:rect r="r" b="b" t="t" l="l"/>
              <a:pathLst>
                <a:path h="1167272" w="9771662">
                  <a:moveTo>
                    <a:pt x="0" y="0"/>
                  </a:moveTo>
                  <a:lnTo>
                    <a:pt x="9771662" y="0"/>
                  </a:lnTo>
                  <a:lnTo>
                    <a:pt x="9771662" y="1167272"/>
                  </a:lnTo>
                  <a:lnTo>
                    <a:pt x="0" y="1167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3116" r="0" b="-11311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9771659" cy="1186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095"/>
                </a:lnSpc>
              </a:pPr>
              <a:r>
                <a:rPr lang="en-US" sz="341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</a:t>
              </a: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643671" y="1457325"/>
            <a:ext cx="8547544" cy="417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788"/>
              </a:lnSpc>
            </a:pPr>
          </a:p>
          <a:p>
            <a:pPr algn="just">
              <a:lnSpc>
                <a:spcPts val="1788"/>
              </a:lnSpc>
            </a:pP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[9] Tang, Pan, Shixiang Tang, Huanqi Pu, Zhiqing Miao, and Zhixing Wang. "MicroRCA-Agent: Microservice root cause analysis method based on large language model agents." </a:t>
            </a:r>
            <a:r>
              <a:rPr lang="en-US" sz="149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arXiv preprint arXiv:2509.15635</a:t>
            </a: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(2025).</a:t>
            </a:r>
          </a:p>
          <a:p>
            <a:pPr algn="just">
              <a:lnSpc>
                <a:spcPts val="1788"/>
              </a:lnSpc>
            </a:pP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[10] Mylläri, Juha, Tatu Aalto, and Jukka K. Nurminen. "Ladle: a method for unsupervised anomaly detection across log types." </a:t>
            </a:r>
            <a:r>
              <a:rPr lang="en-US" sz="149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Automated Software Engineering</a:t>
            </a: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32, no. 2 (2025): 34.</a:t>
            </a:r>
          </a:p>
          <a:p>
            <a:pPr algn="just">
              <a:lnSpc>
                <a:spcPts val="1788"/>
              </a:lnSpc>
            </a:pP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[11] Kim, Taeyoon, Woohyeok Park, Hoyeong Yun, and Kyungyong Lee. "Why do AI agents systematically fail at cloud root cause analysis?." </a:t>
            </a:r>
            <a:r>
              <a:rPr lang="en-US" sz="1490" i="true">
                <a:solidFill>
                  <a:srgbClr val="000000"/>
                </a:solidFill>
                <a:latin typeface="Times New Roman Italics"/>
                <a:ea typeface="Times New Roman Italics"/>
                <a:cs typeface="Times New Roman Italics"/>
                <a:sym typeface="Times New Roman Italics"/>
              </a:rPr>
              <a:t>arXiv preprint arXiv:2602.09937</a:t>
            </a: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(2026).</a:t>
            </a:r>
          </a:p>
          <a:p>
            <a:pPr algn="just">
              <a:lnSpc>
                <a:spcPts val="1788"/>
              </a:lnSpc>
            </a:pP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[12] Z. Liu and A. Anwar, "AutoBnB-RAG: Enhancing Multi-Agent Incident Response with Retrieval-Augmented Generation," arXiv:2508.13118, 2025, doi: 10.48550/arxiv.2508.13118.</a:t>
            </a:r>
          </a:p>
          <a:p>
            <a:pPr algn="just">
              <a:lnSpc>
                <a:spcPts val="1788"/>
              </a:lnSpc>
            </a:pP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[13] Kurniawan, K., Kiesling, E., &amp; Ekelhart, A. (2024). CyKG-RAG: Towards knowledge-graph enhanced retrieval augmented generation for cybersecurity. CEUR Workshop Proceedings, 3950.</a:t>
            </a:r>
          </a:p>
          <a:p>
            <a:pPr algn="just">
              <a:lnSpc>
                <a:spcPts val="1788"/>
              </a:lnSpc>
            </a:pP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[14] Pan, J., Wong, S. L., &amp; Yuan, Y. (2024). RAGLog: Log anomaly detection using retrieval-augmented generation. IEEE WFPST 2024.</a:t>
            </a:r>
          </a:p>
          <a:p>
            <a:pPr algn="just">
              <a:lnSpc>
                <a:spcPts val="1788"/>
              </a:lnSpc>
            </a:pPr>
            <a:r>
              <a:rPr lang="en-US" sz="149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[15] Briliyant, O., Javed, A., &amp; Cherdantseva, Y. (2025). Enhancing cybersecurity log analysis through retrieval-augmented generation. IEEE FLLM 2025, 990–995</a:t>
            </a:r>
          </a:p>
          <a:p>
            <a:pPr algn="just">
              <a:lnSpc>
                <a:spcPts val="1788"/>
              </a:lnSpc>
            </a:pPr>
          </a:p>
          <a:p>
            <a:pPr algn="just">
              <a:lnSpc>
                <a:spcPts val="1788"/>
              </a:lnSpc>
            </a:pPr>
          </a:p>
          <a:p>
            <a:pPr algn="just">
              <a:lnSpc>
                <a:spcPts val="1788"/>
              </a:lnSpc>
            </a:pPr>
          </a:p>
          <a:p>
            <a:pPr algn="just">
              <a:lnSpc>
                <a:spcPts val="1788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1163" y="1203960"/>
            <a:ext cx="9052560" cy="5557523"/>
            <a:chOff x="0" y="0"/>
            <a:chExt cx="12070080" cy="741003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70080" cy="7410069"/>
            </a:xfrm>
            <a:custGeom>
              <a:avLst/>
              <a:gdLst/>
              <a:ahLst/>
              <a:cxnLst/>
              <a:rect r="r" b="b" t="t" l="l"/>
              <a:pathLst>
                <a:path h="7410069" w="12070080">
                  <a:moveTo>
                    <a:pt x="0" y="1235075"/>
                  </a:moveTo>
                  <a:cubicBezTo>
                    <a:pt x="0" y="552958"/>
                    <a:pt x="552958" y="0"/>
                    <a:pt x="1235075" y="0"/>
                  </a:cubicBezTo>
                  <a:lnTo>
                    <a:pt x="10835005" y="0"/>
                  </a:lnTo>
                  <a:cubicBezTo>
                    <a:pt x="11517123" y="0"/>
                    <a:pt x="12070080" y="552958"/>
                    <a:pt x="12070080" y="1235075"/>
                  </a:cubicBezTo>
                  <a:lnTo>
                    <a:pt x="12070080" y="6174994"/>
                  </a:lnTo>
                  <a:cubicBezTo>
                    <a:pt x="12070080" y="6857111"/>
                    <a:pt x="11517123" y="7410069"/>
                    <a:pt x="10835005" y="7410069"/>
                  </a:cubicBezTo>
                  <a:lnTo>
                    <a:pt x="1235075" y="7410069"/>
                  </a:lnTo>
                  <a:cubicBezTo>
                    <a:pt x="552958" y="7410069"/>
                    <a:pt x="0" y="6857111"/>
                    <a:pt x="0" y="6174994"/>
                  </a:cubicBezTo>
                  <a:close/>
                </a:path>
              </a:pathLst>
            </a:custGeom>
            <a:solidFill>
              <a:srgbClr val="FFFFFF"/>
            </a:solidFill>
            <a:ln w="30480" cap="sq">
              <a:solidFill>
                <a:srgbClr val="6699F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6772" y="33871"/>
            <a:ext cx="1192111" cy="1192111"/>
            <a:chOff x="0" y="0"/>
            <a:chExt cx="1589481" cy="1589481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1589532" cy="1589532"/>
            </a:xfrm>
            <a:custGeom>
              <a:avLst/>
              <a:gdLst/>
              <a:ahLst/>
              <a:cxnLst/>
              <a:rect r="r" b="b" t="t" l="l"/>
              <a:pathLst>
                <a:path h="1589532" w="1589532">
                  <a:moveTo>
                    <a:pt x="0" y="0"/>
                  </a:moveTo>
                  <a:lnTo>
                    <a:pt x="1589532" y="0"/>
                  </a:lnTo>
                  <a:lnTo>
                    <a:pt x="1589532" y="1589532"/>
                  </a:lnTo>
                  <a:lnTo>
                    <a:pt x="0" y="1589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3" b="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11242" y="2989650"/>
            <a:ext cx="8791785" cy="1622212"/>
            <a:chOff x="0" y="0"/>
            <a:chExt cx="11722379" cy="21629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722382" cy="2162952"/>
            </a:xfrm>
            <a:custGeom>
              <a:avLst/>
              <a:gdLst/>
              <a:ahLst/>
              <a:cxnLst/>
              <a:rect r="r" b="b" t="t" l="l"/>
              <a:pathLst>
                <a:path h="2162952" w="11722382">
                  <a:moveTo>
                    <a:pt x="0" y="0"/>
                  </a:moveTo>
                  <a:lnTo>
                    <a:pt x="11722382" y="0"/>
                  </a:lnTo>
                  <a:lnTo>
                    <a:pt x="11722382" y="2162952"/>
                  </a:lnTo>
                  <a:lnTo>
                    <a:pt x="0" y="2162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01" r="0" b="-5560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1722379" cy="2191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632"/>
                </a:lnSpc>
              </a:pPr>
              <a:r>
                <a:rPr lang="en-US" sz="4693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THANK YOU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934657" y="435826"/>
            <a:ext cx="21103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91"/>
              </a:lnSpc>
            </a:pPr>
            <a:r>
              <a:rPr lang="en-US" sz="149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DAHSVt0UhbY</dc:identifier>
  <dcterms:modified xsi:type="dcterms:W3CDTF">2011-08-01T06:04:30Z</dcterms:modified>
  <cp:revision>1</cp:revision>
  <dc:title>ProjectPhase2_23UG030.pptx</dc:title>
</cp:coreProperties>
</file>